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1" r:id="rId1"/>
  </p:sldMasterIdLst>
  <p:notesMasterIdLst>
    <p:notesMasterId r:id="rId23"/>
  </p:notesMasterIdLst>
  <p:handoutMasterIdLst>
    <p:handoutMasterId r:id="rId24"/>
  </p:handoutMasterIdLst>
  <p:sldIdLst>
    <p:sldId id="256" r:id="rId2"/>
    <p:sldId id="285" r:id="rId3"/>
    <p:sldId id="281" r:id="rId4"/>
    <p:sldId id="276" r:id="rId5"/>
    <p:sldId id="299" r:id="rId6"/>
    <p:sldId id="292" r:id="rId7"/>
    <p:sldId id="293" r:id="rId8"/>
    <p:sldId id="294" r:id="rId9"/>
    <p:sldId id="295" r:id="rId10"/>
    <p:sldId id="290" r:id="rId11"/>
    <p:sldId id="291" r:id="rId12"/>
    <p:sldId id="286" r:id="rId13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9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1BC2F-8F6D-41D2-9091-CD6B74866306}" v="152" dt="2025-12-18T15:22:07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E3F1C-0998-1B46-A844-8235898F63B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8E89E8-2BF9-B945-AC5B-DFFDD6DC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02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BFE0E-5038-0240-AC1B-B3A7E5931B9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DA8F2-7FE2-9D4A-ADC6-9060F7504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9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00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D91CB-AE6E-FE04-B695-A46DB37FC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31FA7-13DD-F3D0-7F52-0FB19B546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E8158-2BC2-A8DF-42AE-3F39E4D4D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14BDC-1292-AA69-CA9F-499B82310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6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1F5A5-76FC-F408-078A-6CCD4CA9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07F85-B531-7F63-AAFB-A676567C6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444FB-CA3D-F8BD-E00A-554E78902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9AB02-0F99-6329-DFFF-D056DD9227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17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2BBB8-B0A7-3AC3-97B7-98FE0606E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74C3E-DAED-9A73-3EB7-D5E2AB2CF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904A0-6146-538A-D497-05DAB8EBB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DC28D-FFA4-2FA5-82E5-66AD41066E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673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A9A3-BB2C-28DB-BB0F-CDCDB3896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17481-DE6F-CC40-E581-26FADC34B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B3AEE-15F2-5DA1-9AB2-A76C399FD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689B0-C533-0A49-8F90-F6A77CA7D1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73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68D39-904D-7A5A-F73C-434E0C91F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B1960-603B-2D68-847E-E0335DFD9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EDABF-2E24-E9F0-71FC-713561179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46FA0-E357-D874-B20C-0421CD38C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04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DEC0-A0DC-BAD9-8BEE-684F98DF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A76FC-DAEE-5B16-6399-CC80D888B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0D032-A5A8-BEC9-FD7A-B9DD2D870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6428E-9C64-5276-1D59-7E91D3C3C8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01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4241F-7D2C-DB38-FE50-EA0D96598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8E48E-9E4C-5C0C-16E7-060AEA027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3ADB31-46AE-B484-57BA-6F8673E45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216F6-0349-0008-FCB6-23E92E8CCF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94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93A03-EEA0-FD53-5FF9-A26A37C04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73EF6-A19F-33EE-DC84-E3E724342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3E074-5A6E-95FD-B9CF-03818BA9F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E2506-740A-2971-2A34-2F0D50E5A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45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E93E9-B5FD-7E96-8A0F-11BE855E7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B9633-4B0C-4947-B14D-3E410C2E2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A6FFA-AB9D-7329-3E03-3A9E98E90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34441-EFE4-E087-B704-C5F505EFD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59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93C8A-1CD9-7FDE-206A-5A6012BB6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EBDCB-5E7D-05BF-CB80-2EDD56979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FBA7F-0343-2EB0-60E8-0FE9543FB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BB897-E7C1-B1E3-5F28-3B86392281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891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99D53-539C-05AD-F0D7-ADD59C179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F790C-C028-37F8-B583-3705A2B45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2F441-C4B1-35A3-FB97-84BBD20E5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3AB2A-1E56-7F73-DF3F-0F8ACFA6A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66904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0200" y="2128037"/>
            <a:ext cx="9321800" cy="1669088"/>
          </a:xfrm>
          <a:solidFill>
            <a:schemeClr val="bg1"/>
          </a:solidFill>
        </p:spPr>
        <p:txBody>
          <a:bodyPr anchor="ctr" anchorCtr="0">
            <a:noAutofit/>
          </a:bodyPr>
          <a:lstStyle>
            <a:lvl1pPr algn="l">
              <a:defRPr sz="4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0200" y="3797126"/>
            <a:ext cx="9131300" cy="862200"/>
          </a:xfrm>
        </p:spPr>
        <p:txBody>
          <a:bodyPr lIns="137160" tIns="91440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8037"/>
            <a:ext cx="2776845" cy="1660332"/>
          </a:xfrm>
          <a:prstGeom prst="rect">
            <a:avLst/>
          </a:prstGeom>
          <a:solidFill>
            <a:srgbClr val="FAC907"/>
          </a:solidFill>
        </p:spPr>
      </p:pic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870200" y="4999953"/>
            <a:ext cx="5098960" cy="1353599"/>
          </a:xfrm>
        </p:spPr>
        <p:txBody>
          <a:bodyPr anchor="b" anchorCtr="0">
            <a:normAutofit/>
          </a:bodyPr>
          <a:lstStyle>
            <a:lvl1pPr marL="91440" indent="0">
              <a:lnSpc>
                <a:spcPct val="100000"/>
              </a:lnSpc>
              <a:spcBef>
                <a:spcPts val="0"/>
              </a:spcBef>
              <a:buFontTx/>
              <a:buNone/>
              <a:defRPr sz="1100" baseline="0">
                <a:solidFill>
                  <a:schemeClr val="bg1"/>
                </a:solidFill>
              </a:defRPr>
            </a:lvl1pPr>
            <a:lvl5pPr>
              <a:spcBef>
                <a:spcPts val="0"/>
              </a:spcBef>
              <a:defRPr/>
            </a:lvl5pPr>
          </a:lstStyle>
          <a:p>
            <a:r>
              <a:rPr lang="en-US" sz="1200" b="0" i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rPr>
              <a:t>Click to add presenter name, title, department, date, etc.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BEB4E6B-3E25-5FC4-CFAF-6B3651379005}"/>
              </a:ext>
            </a:extLst>
          </p:cNvPr>
          <p:cNvGrpSpPr/>
          <p:nvPr userDrawn="1"/>
        </p:nvGrpSpPr>
        <p:grpSpPr>
          <a:xfrm>
            <a:off x="10687792" y="-1"/>
            <a:ext cx="1315357" cy="1548925"/>
            <a:chOff x="10824853" y="0"/>
            <a:chExt cx="988291" cy="116378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E201AAB-47C3-1FFB-440E-87D33857DE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824853" y="0"/>
              <a:ext cx="988291" cy="1163782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C8EF099-0667-D442-8E69-F46C153F57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901474" y="343842"/>
              <a:ext cx="835049" cy="523598"/>
            </a:xfrm>
            <a:prstGeom prst="rect">
              <a:avLst/>
            </a:prstGeom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37849" y="6487185"/>
            <a:ext cx="1154152" cy="370814"/>
          </a:xfrm>
          <a:prstGeom prst="rect">
            <a:avLst/>
          </a:prstGeom>
          <a:noFill/>
        </p:spPr>
        <p:txBody>
          <a:bodyPr rIns="274320"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12" name="Footer Placeholder 11"/>
          <p:cNvSpPr>
            <a:spLocks noGrp="1"/>
          </p:cNvSpPr>
          <p:nvPr>
            <p:ph type="ftr" sz="quarter" idx="13"/>
          </p:nvPr>
        </p:nvSpPr>
        <p:spPr>
          <a:xfrm>
            <a:off x="680320" y="6487183"/>
            <a:ext cx="10357529" cy="370816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80321" y="1591200"/>
            <a:ext cx="11394079" cy="489598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1591200"/>
            <a:ext cx="5577840" cy="489598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96560" y="1591200"/>
            <a:ext cx="5577840" cy="489598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1" cy="370816"/>
          </a:xfrm>
          <a:prstGeom prst="rect">
            <a:avLst/>
          </a:prstGeom>
        </p:spPr>
        <p:txBody>
          <a:bodyPr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14" name="Footer Placeholder 13"/>
          <p:cNvSpPr>
            <a:spLocks noGrp="1"/>
          </p:cNvSpPr>
          <p:nvPr>
            <p:ph type="ftr" sz="quarter" idx="13"/>
          </p:nvPr>
        </p:nvSpPr>
        <p:spPr>
          <a:xfrm>
            <a:off x="680320" y="6487184"/>
            <a:ext cx="1035752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121992"/>
            <a:ext cx="11394081" cy="10809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0" y="1591201"/>
            <a:ext cx="5577840" cy="4607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2052000"/>
            <a:ext cx="5577838" cy="443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6284" y="1590141"/>
            <a:ext cx="5577840" cy="4607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6284" y="2050940"/>
            <a:ext cx="5577840" cy="4435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1" cy="370816"/>
          </a:xfrm>
          <a:prstGeom prst="rect">
            <a:avLst/>
          </a:prstGeom>
        </p:spPr>
        <p:txBody>
          <a:bodyPr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16" name="Footer Placeholder 15"/>
          <p:cNvSpPr>
            <a:spLocks noGrp="1"/>
          </p:cNvSpPr>
          <p:nvPr>
            <p:ph type="ftr" sz="quarter" idx="13"/>
          </p:nvPr>
        </p:nvSpPr>
        <p:spPr>
          <a:xfrm>
            <a:off x="680320" y="6487184"/>
            <a:ext cx="10357529" cy="370816"/>
          </a:xfrm>
          <a:prstGeom prst="rect">
            <a:avLst/>
          </a:prstGeom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2" cy="370816"/>
          </a:xfrm>
          <a:prstGeom prst="rect">
            <a:avLst/>
          </a:prstGeom>
        </p:spPr>
        <p:txBody>
          <a:bodyPr rIns="274320"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12" name="Footer Placeholder 11"/>
          <p:cNvSpPr>
            <a:spLocks noGrp="1"/>
          </p:cNvSpPr>
          <p:nvPr>
            <p:ph type="ftr" sz="quarter" idx="13"/>
          </p:nvPr>
        </p:nvSpPr>
        <p:spPr>
          <a:xfrm>
            <a:off x="680320" y="6487184"/>
            <a:ext cx="1035752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1" cy="370816"/>
          </a:xfrm>
          <a:prstGeom prst="rect">
            <a:avLst/>
          </a:prstGeom>
        </p:spPr>
        <p:txBody>
          <a:bodyPr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680320" y="6487184"/>
            <a:ext cx="1035752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121460"/>
            <a:ext cx="11379677" cy="1080940"/>
          </a:xfrm>
        </p:spPr>
        <p:txBody>
          <a:bodyPr anchor="b" anchorCtr="0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1580873"/>
            <a:ext cx="7722079" cy="4906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1" cy="370816"/>
          </a:xfrm>
          <a:prstGeom prst="rect">
            <a:avLst/>
          </a:prstGeom>
        </p:spPr>
        <p:txBody>
          <a:bodyPr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8402400" y="1580872"/>
            <a:ext cx="3789600" cy="3657600"/>
          </a:xfrm>
          <a:solidFill>
            <a:srgbClr val="FAC907"/>
          </a:solidFill>
        </p:spPr>
        <p:txBody>
          <a:bodyPr lIns="91440" tIns="45720" rIns="182880" anchor="t" anchorCtr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4"/>
          </p:nvPr>
        </p:nvSpPr>
        <p:spPr>
          <a:xfrm>
            <a:off x="680320" y="6487184"/>
            <a:ext cx="10357529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Callou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5" y="121462"/>
            <a:ext cx="11379675" cy="1080938"/>
          </a:xfrm>
        </p:spPr>
        <p:txBody>
          <a:bodyPr anchor="b" anchorCtr="0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0" y="1580872"/>
            <a:ext cx="7722079" cy="4906312"/>
          </a:xfrm>
          <a:noFill/>
          <a:ln>
            <a:noFill/>
          </a:ln>
          <a:effectLst/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2398" y="1580872"/>
            <a:ext cx="3789601" cy="3657600"/>
          </a:xfrm>
          <a:solidFill>
            <a:srgbClr val="FAC907"/>
          </a:solidFill>
        </p:spPr>
        <p:txBody>
          <a:bodyPr lIns="91440" tIns="91440" rIns="182880" anchor="t" anchorCtr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1" cy="370816"/>
          </a:xfrm>
          <a:prstGeom prst="rect">
            <a:avLst/>
          </a:prstGeom>
        </p:spPr>
        <p:txBody>
          <a:bodyPr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14" name="Footer Placeholder 13"/>
          <p:cNvSpPr>
            <a:spLocks noGrp="1"/>
          </p:cNvSpPr>
          <p:nvPr>
            <p:ph type="ftr" sz="quarter" idx="13"/>
          </p:nvPr>
        </p:nvSpPr>
        <p:spPr>
          <a:xfrm>
            <a:off x="680320" y="6487184"/>
            <a:ext cx="1035752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0320" y="121462"/>
            <a:ext cx="11394080" cy="1080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1591201"/>
            <a:ext cx="3657600" cy="460800"/>
          </a:xfrm>
        </p:spPr>
        <p:txBody>
          <a:bodyPr anchor="b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1" y="2052001"/>
            <a:ext cx="3638223" cy="443518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7432" y="1591200"/>
            <a:ext cx="3657600" cy="460801"/>
          </a:xfrm>
        </p:spPr>
        <p:txBody>
          <a:bodyPr anchor="b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7432" y="2052001"/>
            <a:ext cx="3657600" cy="443518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233920" y="1591200"/>
            <a:ext cx="3749040" cy="460801"/>
          </a:xfrm>
        </p:spPr>
        <p:txBody>
          <a:bodyPr anchor="b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233920" y="2052001"/>
            <a:ext cx="3749040" cy="443518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1" cy="370816"/>
          </a:xfrm>
          <a:prstGeom prst="rect">
            <a:avLst/>
          </a:prstGeom>
        </p:spPr>
        <p:txBody>
          <a:bodyPr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8"/>
          </p:nvPr>
        </p:nvSpPr>
        <p:spPr>
          <a:xfrm>
            <a:off x="680320" y="6487184"/>
            <a:ext cx="1035752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112203"/>
            <a:ext cx="11379678" cy="1080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1561018"/>
            <a:ext cx="3659651" cy="3658982"/>
          </a:xfrm>
          <a:prstGeom prst="roundRect">
            <a:avLst>
              <a:gd name="adj" fmla="val 0"/>
            </a:avLst>
          </a:prstGeom>
          <a:effectLst/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5219999"/>
            <a:ext cx="3657600" cy="126718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1361" y="1565058"/>
            <a:ext cx="3657600" cy="3654942"/>
          </a:xfrm>
          <a:prstGeom prst="roundRect">
            <a:avLst>
              <a:gd name="adj" fmla="val 0"/>
            </a:avLst>
          </a:prstGeom>
          <a:effectLst/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41361" y="5219999"/>
            <a:ext cx="3657600" cy="127169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402400" y="1568186"/>
            <a:ext cx="3657600" cy="3651813"/>
          </a:xfrm>
          <a:prstGeom prst="roundRect">
            <a:avLst>
              <a:gd name="adj" fmla="val 0"/>
            </a:avLst>
          </a:prstGeom>
          <a:effectLst/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402400" y="5219999"/>
            <a:ext cx="3657600" cy="126718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1" cy="370816"/>
          </a:xfrm>
          <a:prstGeom prst="rect">
            <a:avLst/>
          </a:prstGeom>
        </p:spPr>
        <p:txBody>
          <a:bodyPr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23"/>
          </p:nvPr>
        </p:nvSpPr>
        <p:spPr>
          <a:xfrm>
            <a:off x="680320" y="6487184"/>
            <a:ext cx="1035752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46400" y="6492874"/>
            <a:ext cx="945600" cy="365126"/>
          </a:xfrm>
          <a:prstGeom prst="rect">
            <a:avLst/>
          </a:prstGeom>
          <a:noFill/>
        </p:spPr>
        <p:txBody>
          <a:bodyPr rIns="274320" anchor="ctr" anchorCtr="0"/>
          <a:lstStyle>
            <a:lvl1pPr algn="r">
              <a:defRPr sz="1000" b="0" i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0" y="121462"/>
            <a:ext cx="11394080" cy="10809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2"/>
            <a:ext cx="9613861" cy="4156001"/>
          </a:xfrm>
          <a:prstGeom prst="rect">
            <a:avLst/>
          </a:prstGeom>
        </p:spPr>
        <p:txBody>
          <a:bodyPr vert="horz" lIns="4572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680320" y="6492874"/>
            <a:ext cx="10566080" cy="365126"/>
          </a:xfrm>
          <a:prstGeom prst="rect">
            <a:avLst/>
          </a:prstGeom>
          <a:noFill/>
        </p:spPr>
        <p:txBody>
          <a:bodyPr vert="horz" lIns="0" tIns="45720" rIns="91440" bIns="45720" rtlCol="0" anchor="ctr" anchorCtr="0"/>
          <a:lstStyle>
            <a:lvl1pPr algn="l">
              <a:defRPr sz="1000" b="0" i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Rowan University / College of Xxxxxxx / Department of Xxxxxxx &amp; Xxxxxx</a:t>
            </a:r>
          </a:p>
        </p:txBody>
      </p:sp>
    </p:spTree>
    <p:extLst>
      <p:ext uri="{BB962C8B-B14F-4D97-AF65-F5344CB8AC3E}">
        <p14:creationId xmlns:p14="http://schemas.microsoft.com/office/powerpoint/2010/main" val="21100106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bg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13716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Source Sans Pro" charset="0"/>
          <a:ea typeface="Source Sans Pro" charset="0"/>
          <a:cs typeface="Source Sans Pro" charset="0"/>
        </a:defRPr>
      </a:lvl1pPr>
      <a:lvl2pPr marL="685800" indent="-13716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Source Sans Pro" charset="0"/>
          <a:ea typeface="Source Sans Pro" charset="0"/>
          <a:cs typeface="Source Sans Pro" charset="0"/>
        </a:defRPr>
      </a:lvl2pPr>
      <a:lvl3pPr marL="1143000" indent="-13716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Source Sans Pro" charset="0"/>
          <a:ea typeface="Source Sans Pro" charset="0"/>
          <a:cs typeface="Source Sans Pro" charset="0"/>
        </a:defRPr>
      </a:lvl3pPr>
      <a:lvl4pPr marL="1600200" indent="-13716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Source Sans Pro" charset="0"/>
          <a:ea typeface="Source Sans Pro" charset="0"/>
          <a:cs typeface="Source Sans Pro" charset="0"/>
        </a:defRPr>
      </a:lvl4pPr>
      <a:lvl5pPr marL="2057400" indent="-13716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Source Sans Pro" charset="0"/>
          <a:ea typeface="Source Sans Pro" charset="0"/>
          <a:cs typeface="Source Sans Pro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Symbology Development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137160" tIns="91440" rIns="91440" bIns="45720" rtlCol="0" anchor="t">
            <a:normAutofit/>
          </a:bodyPr>
          <a:lstStyle/>
          <a:p>
            <a:r>
              <a:rPr lang="en-US" dirty="0" err="1">
                <a:latin typeface="Source Sans Pro"/>
                <a:ea typeface="Source Sans Pro"/>
              </a:rPr>
              <a:t>Yanlai</a:t>
            </a:r>
            <a:r>
              <a:rPr lang="en-US" dirty="0">
                <a:latin typeface="Source Sans Pro"/>
                <a:ea typeface="Source Sans Pro"/>
              </a:rPr>
              <a:t xml:space="preserve"> Wu</a:t>
            </a:r>
          </a:p>
        </p:txBody>
      </p:sp>
      <p:pic>
        <p:nvPicPr>
          <p:cNvPr id="1028" name="Picture 4" descr="Image result for FAA badge">
            <a:extLst>
              <a:ext uri="{FF2B5EF4-FFF2-40B4-BE49-F238E27FC236}">
                <a16:creationId xmlns:a16="http://schemas.microsoft.com/office/drawing/2014/main" id="{34BBC9A3-9EBB-9B06-FF0D-1C6D4E139A8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21" y="4825165"/>
            <a:ext cx="135255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6E0F600-AA5B-D8AB-F345-C10BD6664E9B}"/>
              </a:ext>
            </a:extLst>
          </p:cNvPr>
          <p:cNvSpPr txBox="1"/>
          <p:nvPr/>
        </p:nvSpPr>
        <p:spPr>
          <a:xfrm>
            <a:off x="9257915" y="6179127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800">
                <a:solidFill>
                  <a:srgbClr val="59280F"/>
                </a:solidFill>
                <a:latin typeface="Source Sans Pro"/>
                <a:ea typeface="宋体"/>
              </a:rPr>
              <a:t>Advisor: Dr. Tang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8009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071ED-F60A-08E6-2EBB-5D4CCCA79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图示  AI 生成的内容可能不正确。">
            <a:extLst>
              <a:ext uri="{FF2B5EF4-FFF2-40B4-BE49-F238E27FC236}">
                <a16:creationId xmlns:a16="http://schemas.microsoft.com/office/drawing/2014/main" id="{C5777117-7F1D-A1DD-CCCD-26F751FF9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85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0F655-DFC7-0FF9-A817-C35527D7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2ED50-E399-8053-D7DA-BD448A608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9" y="2128037"/>
            <a:ext cx="12192769" cy="1669088"/>
          </a:xfrm>
        </p:spPr>
        <p:txBody>
          <a:bodyPr/>
          <a:lstStyle/>
          <a:p>
            <a:pPr algn="ctr"/>
            <a:r>
              <a:rPr lang="en-US" dirty="0">
                <a:latin typeface="Source Sans Pro"/>
                <a:ea typeface="Source Sans Pro"/>
              </a:rPr>
              <a:t>Works Completed This Month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537374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E0B7B-4A32-10CB-A608-85C23624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F90C-364E-61DE-059E-B73C9B11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121462"/>
            <a:ext cx="4202830" cy="843738"/>
          </a:xfrm>
        </p:spPr>
        <p:txBody>
          <a:bodyPr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Aircraft Control System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00A12-7612-2391-1B5C-605A6F6150F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Rowan University /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9E4F9-261C-1D9E-745C-8DF5443B5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0CCF6-1C0C-8AE8-5C78-DCCE92718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442" y="1421347"/>
            <a:ext cx="6860809" cy="3963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A3F16758-93CF-A3FD-6171-0CA5558BF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053" y="1165454"/>
            <a:ext cx="4687364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Architecture: </a:t>
            </a:r>
            <a:r>
              <a:rPr lang="zh-CN" altLang="zh-CN" sz="16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Modular flight dynamics system with IFlightDynamics interface supporting multiple aircraft types through clean abstraction.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FixedWingDynamics: </a:t>
            </a:r>
            <a:r>
              <a:rPr lang="zh-CN" altLang="zh-CN" sz="16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Realistic airplane physics with pitch/roll/yaw control surfaces, airspeed management (60-350 knots), coordinated turns, and auto-leveling behavior.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HelicopterDynamics: </a:t>
            </a:r>
            <a:r>
              <a:rPr lang="zh-CN" altLang="zh-CN" sz="16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Rotary-wing simulation with collective/cyclic pitch control, main rotor RPM management (320-400 RPM), tail rotor anti-torque, ground effect, and translating tendency.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AircraftState: </a:t>
            </a:r>
            <a:r>
              <a:rPr lang="zh-CN" altLang="zh-CN" sz="16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Centralized state management for position, attitude, airspeed, and flight parameters with event-driven updates.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7044AD7-BD4F-F2A2-5A7C-DB0C1075BE4B}"/>
              </a:ext>
            </a:extLst>
          </p:cNvPr>
          <p:cNvSpPr txBox="1"/>
          <p:nvPr/>
        </p:nvSpPr>
        <p:spPr>
          <a:xfrm>
            <a:off x="6989371" y="5381993"/>
            <a:ext cx="3028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Aircraft Control Architecture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0300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1659C-0EE5-E78A-BAA5-CF983A2FF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E060C-FC74-A668-F717-80B61541E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121462"/>
            <a:ext cx="4202830" cy="843738"/>
          </a:xfrm>
        </p:spPr>
        <p:txBody>
          <a:bodyPr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3D Weather Visualization System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282C34-68CE-4485-7FB7-BD9231612D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Rowan University /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A55CD-768E-A8EB-E892-4765F4105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5</a:t>
            </a:fld>
            <a:endParaRPr lang="en-US"/>
          </a:p>
        </p:txBody>
      </p:sp>
      <p:pic>
        <p:nvPicPr>
          <p:cNvPr id="3" name="图片 2" descr="图示  AI 生成的内容可能不正确。">
            <a:extLst>
              <a:ext uri="{FF2B5EF4-FFF2-40B4-BE49-F238E27FC236}">
                <a16:creationId xmlns:a16="http://schemas.microsoft.com/office/drawing/2014/main" id="{8FEA2DF0-3FFB-64D1-0DD4-9CE652075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20" y="1294054"/>
            <a:ext cx="11276822" cy="453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3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4F9E3-D96E-9A66-EAEC-94FB77358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F309B-F983-F075-B473-ECB559814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121462"/>
            <a:ext cx="4202830" cy="843738"/>
          </a:xfrm>
        </p:spPr>
        <p:txBody>
          <a:bodyPr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Volumetric Weather System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DC724-8815-5894-E148-B802618E416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Rowan University /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434A40-E7E8-1A30-C4FD-F525A5F3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6</a:t>
            </a:fld>
            <a:endParaRPr lang="en-US"/>
          </a:p>
        </p:txBody>
      </p:sp>
      <p:pic>
        <p:nvPicPr>
          <p:cNvPr id="6" name="图片 5" descr="亮着屏幕的电脑截图  AI 生成的内容可能不正确。">
            <a:extLst>
              <a:ext uri="{FF2B5EF4-FFF2-40B4-BE49-F238E27FC236}">
                <a16:creationId xmlns:a16="http://schemas.microsoft.com/office/drawing/2014/main" id="{AFFC846F-3368-5170-5427-37EAF0C5A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57" y="1141256"/>
            <a:ext cx="5533903" cy="2671463"/>
          </a:xfrm>
          <a:prstGeom prst="rect">
            <a:avLst/>
          </a:prstGeom>
        </p:spPr>
      </p:pic>
      <p:pic>
        <p:nvPicPr>
          <p:cNvPr id="12" name="图片 11" descr="电脑萤幕的截图  AI 生成的内容可能不正确。">
            <a:extLst>
              <a:ext uri="{FF2B5EF4-FFF2-40B4-BE49-F238E27FC236}">
                <a16:creationId xmlns:a16="http://schemas.microsoft.com/office/drawing/2014/main" id="{2A3998DE-3A5A-0417-1F63-85DB28762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2454" y="702624"/>
            <a:ext cx="2914805" cy="2498405"/>
          </a:xfrm>
          <a:prstGeom prst="rect">
            <a:avLst/>
          </a:prstGeom>
        </p:spPr>
      </p:pic>
      <p:pic>
        <p:nvPicPr>
          <p:cNvPr id="5122" name="Picture 2" descr="Annotated detection result">
            <a:extLst>
              <a:ext uri="{FF2B5EF4-FFF2-40B4-BE49-F238E27FC236}">
                <a16:creationId xmlns:a16="http://schemas.microsoft.com/office/drawing/2014/main" id="{794FA04E-1BE4-A5DB-F764-4FB55EC15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991" y="3949504"/>
            <a:ext cx="4983161" cy="2806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764F33AD-EA08-F9B7-C5CB-9C090028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90" y="3502879"/>
            <a:ext cx="578811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VolumetricWeatherManager:</a:t>
            </a:r>
            <a:r>
              <a:rPr lang="zh-CN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 Main orchestrator managing data sources, renderers, and visualization pipeline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WeatherVolumeData:</a:t>
            </a:r>
            <a:r>
              <a:rPr lang="zh-CN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 3D grid-based weather data structure with intensity, precipitation type, lightning probability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Multiple view modes:</a:t>
            </a:r>
            <a:r>
              <a:rPr lang="zh-CN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 Perspective3D, TopDown, CrossSection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Layer visibility control:</a:t>
            </a:r>
            <a:r>
              <a:rPr lang="zh-CN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 for intensity pillars, lightning effects, precipitation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C5CAFA89-6FF1-43A5-1275-92FE5D02E70F}"/>
              </a:ext>
            </a:extLst>
          </p:cNvPr>
          <p:cNvSpPr/>
          <p:nvPr/>
        </p:nvSpPr>
        <p:spPr>
          <a:xfrm>
            <a:off x="6437870" y="2174789"/>
            <a:ext cx="1556952" cy="2965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6912AF51-979D-2ACF-2E42-DF28EECAEB47}"/>
              </a:ext>
            </a:extLst>
          </p:cNvPr>
          <p:cNvSpPr/>
          <p:nvPr/>
        </p:nvSpPr>
        <p:spPr>
          <a:xfrm rot="5400000">
            <a:off x="9363046" y="3426985"/>
            <a:ext cx="695612" cy="2965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529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电脑萤幕的截图  AI 生成的内容可能不正确。">
            <a:extLst>
              <a:ext uri="{FF2B5EF4-FFF2-40B4-BE49-F238E27FC236}">
                <a16:creationId xmlns:a16="http://schemas.microsoft.com/office/drawing/2014/main" id="{9F80F378-B36D-4EB9-CAD1-DC19427B8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442" y="869091"/>
            <a:ext cx="6808573" cy="561398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62454AD-D0C2-204D-0054-690844B2A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925" y="90570"/>
            <a:ext cx="4202830" cy="843738"/>
          </a:xfrm>
        </p:spPr>
        <p:txBody>
          <a:bodyPr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Weather Visualization Editor Tools</a:t>
            </a:r>
            <a:endParaRPr lang="en-US" dirty="0"/>
          </a:p>
        </p:txBody>
      </p:sp>
      <p:sp>
        <p:nvSpPr>
          <p:cNvPr id="11" name="Content Box">
            <a:extLst>
              <a:ext uri="{FF2B5EF4-FFF2-40B4-BE49-F238E27FC236}">
                <a16:creationId xmlns:a16="http://schemas.microsoft.com/office/drawing/2014/main" id="{A1B2C3D4-E5F6-7890-1234-567890ABCDEF}"/>
              </a:ext>
            </a:extLst>
          </p:cNvPr>
          <p:cNvSpPr txBox="1"/>
          <p:nvPr/>
        </p:nvSpPr>
        <p:spPr>
          <a:xfrm>
            <a:off x="735925" y="1000000"/>
            <a:ext cx="8000000" cy="5000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VolumetricWeatherSetupWizard:</a:t>
            </a:r>
            <a:r>
              <a:rPr lang="zh-CN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 Unity Editor window for quick system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WeatherPrefabFactory:</a:t>
            </a:r>
            <a:r>
              <a:rPr lang="zh-CN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 Automated prefab creation with proper component configuration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WeatherMaterialSetup:</a:t>
            </a:r>
            <a:r>
              <a:rPr lang="zh-CN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 Shader and material configuration for visual effects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Menu integration:</a:t>
            </a:r>
            <a:r>
              <a:rPr lang="zh-CN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 Tools/Weather Visualization/ menu path</a:t>
            </a:r>
          </a:p>
        </p:txBody>
      </p:sp>
    </p:spTree>
    <p:extLst>
      <p:ext uri="{BB962C8B-B14F-4D97-AF65-F5344CB8AC3E}">
        <p14:creationId xmlns:p14="http://schemas.microsoft.com/office/powerpoint/2010/main" val="268579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89EB1-5F78-F2F0-AC88-591D65AFF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9FAA-40F8-0CE8-686F-601539C87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9" y="2128037"/>
            <a:ext cx="12192769" cy="1669088"/>
          </a:xfrm>
        </p:spPr>
        <p:txBody>
          <a:bodyPr/>
          <a:lstStyle/>
          <a:p>
            <a:pPr algn="ctr"/>
            <a:r>
              <a:rPr lang="en-US" altLang="zh-CN" dirty="0">
                <a:latin typeface="Source Sans Pro"/>
                <a:ea typeface="Source Sans Pro"/>
              </a:rPr>
              <a:t>Voice Control System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822843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BDD9-C95C-71A6-8F8F-1D47CFB5B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B2165-50FD-9338-745C-7AC4E2F00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454684"/>
            <a:ext cx="4202830" cy="370816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Source Sans Pro"/>
                <a:ea typeface="Source Sans Pro"/>
              </a:rPr>
              <a:t>Radial Wheel Menu Interface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00C3E-15F7-4C8A-3719-8BC308A3F75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Rowan University /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989DD-2709-15FA-B18B-F678901A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9</a:t>
            </a:fld>
            <a:endParaRPr lang="en-US"/>
          </a:p>
        </p:txBody>
      </p:sp>
      <p:pic>
        <p:nvPicPr>
          <p:cNvPr id="6" name="图片 5" descr="文本  AI 生成的内容可能不正确。">
            <a:extLst>
              <a:ext uri="{FF2B5EF4-FFF2-40B4-BE49-F238E27FC236}">
                <a16:creationId xmlns:a16="http://schemas.microsoft.com/office/drawing/2014/main" id="{6231E550-476F-E3D8-C6FB-C342A6F96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47" y="1530450"/>
            <a:ext cx="4761905" cy="160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B34097-08F3-1AD6-03A0-502F2C535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392" y="1530450"/>
            <a:ext cx="4428679" cy="343308"/>
          </a:xfrm>
          <a:prstGeom prst="rect">
            <a:avLst/>
          </a:prstGeom>
        </p:spPr>
      </p:pic>
      <p:pic>
        <p:nvPicPr>
          <p:cNvPr id="10" name="图片 9" descr="文本  AI 生成的内容可能不正确。">
            <a:extLst>
              <a:ext uri="{FF2B5EF4-FFF2-40B4-BE49-F238E27FC236}">
                <a16:creationId xmlns:a16="http://schemas.microsoft.com/office/drawing/2014/main" id="{28EC95B8-279D-00D8-7B90-9917E311A0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8392" y="2528149"/>
            <a:ext cx="4428679" cy="60230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BAF0DDE-77E4-C9C2-14B1-03D3CA1FA53F}"/>
              </a:ext>
            </a:extLst>
          </p:cNvPr>
          <p:cNvSpPr txBox="1"/>
          <p:nvPr/>
        </p:nvSpPr>
        <p:spPr>
          <a:xfrm>
            <a:off x="1163492" y="3098805"/>
            <a:ext cx="42633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Executed on </a:t>
            </a:r>
            <a:r>
              <a:rPr lang="en-US" altLang="zh-CN" sz="18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local machine running LLM or other stuff (w/o public IP)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25C1D2-B0C3-75D0-53B5-669512A65139}"/>
              </a:ext>
            </a:extLst>
          </p:cNvPr>
          <p:cNvSpPr txBox="1"/>
          <p:nvPr/>
        </p:nvSpPr>
        <p:spPr>
          <a:xfrm>
            <a:off x="7543806" y="1857667"/>
            <a:ext cx="311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Local Machine (w/o public IP)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EE0D8E5-EE9B-8F5B-A6CF-0029B7CE7C25}"/>
              </a:ext>
            </a:extLst>
          </p:cNvPr>
          <p:cNvSpPr txBox="1"/>
          <p:nvPr/>
        </p:nvSpPr>
        <p:spPr>
          <a:xfrm>
            <a:off x="7404100" y="3102344"/>
            <a:ext cx="3638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Remote Machine (with public IP)</a:t>
            </a:r>
            <a:endParaRPr lang="zh-CN" altLang="en-US" dirty="0"/>
          </a:p>
        </p:txBody>
      </p:sp>
      <p:pic>
        <p:nvPicPr>
          <p:cNvPr id="18" name="图片 17" descr="手机屏幕的截图  AI 生成的内容可能不正确。">
            <a:extLst>
              <a:ext uri="{FF2B5EF4-FFF2-40B4-BE49-F238E27FC236}">
                <a16:creationId xmlns:a16="http://schemas.microsoft.com/office/drawing/2014/main" id="{3345F960-D861-C82D-3C1B-70E92CE212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3412" y="3766774"/>
            <a:ext cx="3914285" cy="77142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2F95FB20-B76F-AF33-D632-C88BC9FC0AA4}"/>
              </a:ext>
            </a:extLst>
          </p:cNvPr>
          <p:cNvSpPr txBox="1"/>
          <p:nvPr/>
        </p:nvSpPr>
        <p:spPr>
          <a:xfrm>
            <a:off x="8162925" y="5555406"/>
            <a:ext cx="2120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Nginx Proxy Pass</a:t>
            </a:r>
            <a:endParaRPr lang="zh-CN" altLang="en-US" dirty="0"/>
          </a:p>
        </p:txBody>
      </p:sp>
      <p:pic>
        <p:nvPicPr>
          <p:cNvPr id="22" name="图片 21" descr="文本  AI 生成的内容可能不正确。">
            <a:extLst>
              <a:ext uri="{FF2B5EF4-FFF2-40B4-BE49-F238E27FC236}">
                <a16:creationId xmlns:a16="http://schemas.microsoft.com/office/drawing/2014/main" id="{F280AF2A-D197-53B6-5B5F-68021FF255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3413" y="4538203"/>
            <a:ext cx="3914286" cy="971429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B249DA4E-E497-10AC-5CF8-1F720059D457}"/>
              </a:ext>
            </a:extLst>
          </p:cNvPr>
          <p:cNvSpPr txBox="1"/>
          <p:nvPr/>
        </p:nvSpPr>
        <p:spPr>
          <a:xfrm>
            <a:off x="787697" y="5678305"/>
            <a:ext cx="1786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Local Devices</a:t>
            </a:r>
            <a:endParaRPr lang="zh-CN" altLang="en-US" dirty="0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A55A7EE1-4503-9DF3-D7B9-DDC12A685BCE}"/>
              </a:ext>
            </a:extLst>
          </p:cNvPr>
          <p:cNvSpPr/>
          <p:nvPr/>
        </p:nvSpPr>
        <p:spPr>
          <a:xfrm>
            <a:off x="5607050" y="2226999"/>
            <a:ext cx="1029000" cy="2050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A4617220-9F55-BF72-61D1-0917527858C0}"/>
              </a:ext>
            </a:extLst>
          </p:cNvPr>
          <p:cNvSpPr/>
          <p:nvPr/>
        </p:nvSpPr>
        <p:spPr>
          <a:xfrm rot="5400000">
            <a:off x="9013878" y="2245005"/>
            <a:ext cx="304508" cy="2478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E65AF71B-8CBB-567B-04CB-8CAC504C39DB}"/>
              </a:ext>
            </a:extLst>
          </p:cNvPr>
          <p:cNvSpPr/>
          <p:nvPr/>
        </p:nvSpPr>
        <p:spPr>
          <a:xfrm rot="5400000">
            <a:off x="9017059" y="3439796"/>
            <a:ext cx="304508" cy="2478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 descr="图片包含 图标  AI 生成的内容可能不正确。">
            <a:extLst>
              <a:ext uri="{FF2B5EF4-FFF2-40B4-BE49-F238E27FC236}">
                <a16:creationId xmlns:a16="http://schemas.microsoft.com/office/drawing/2014/main" id="{1A6614BD-0D67-59AB-7CF4-DAD3D2C780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697" y="4617261"/>
            <a:ext cx="751591" cy="1017304"/>
          </a:xfrm>
          <a:prstGeom prst="rect">
            <a:avLst/>
          </a:prstGeom>
        </p:spPr>
      </p:pic>
      <p:pic>
        <p:nvPicPr>
          <p:cNvPr id="30" name="图片 29" descr="图标  AI 生成的内容可能不正确。">
            <a:extLst>
              <a:ext uri="{FF2B5EF4-FFF2-40B4-BE49-F238E27FC236}">
                <a16:creationId xmlns:a16="http://schemas.microsoft.com/office/drawing/2014/main" id="{6DB64468-5579-2D9F-B337-0DDFD76D19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1242" y="4807015"/>
            <a:ext cx="905194" cy="729480"/>
          </a:xfrm>
          <a:prstGeom prst="rect">
            <a:avLst/>
          </a:prstGeom>
        </p:spPr>
      </p:pic>
      <p:pic>
        <p:nvPicPr>
          <p:cNvPr id="32" name="图片 31" descr="图标  AI 生成的内容可能不正确。">
            <a:extLst>
              <a:ext uri="{FF2B5EF4-FFF2-40B4-BE49-F238E27FC236}">
                <a16:creationId xmlns:a16="http://schemas.microsoft.com/office/drawing/2014/main" id="{7E2A6631-156E-5827-07D8-AE60D5C458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4877" y="4807015"/>
            <a:ext cx="768413" cy="729480"/>
          </a:xfrm>
          <a:prstGeom prst="rect">
            <a:avLst/>
          </a:prstGeom>
        </p:spPr>
      </p:pic>
      <p:pic>
        <p:nvPicPr>
          <p:cNvPr id="34" name="图片 33" descr="徽标  AI 生成的内容可能不正确。">
            <a:extLst>
              <a:ext uri="{FF2B5EF4-FFF2-40B4-BE49-F238E27FC236}">
                <a16:creationId xmlns:a16="http://schemas.microsoft.com/office/drawing/2014/main" id="{C27CA32F-7387-7E19-EAB9-53E188BC7C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74999" y="4954245"/>
            <a:ext cx="1631323" cy="435019"/>
          </a:xfrm>
          <a:prstGeom prst="rect">
            <a:avLst/>
          </a:prstGeom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6471102-0C04-FFD7-7AF5-6C667F50A119}"/>
              </a:ext>
            </a:extLst>
          </p:cNvPr>
          <p:cNvCxnSpPr>
            <a:stCxn id="32" idx="3"/>
          </p:cNvCxnSpPr>
          <p:nvPr/>
        </p:nvCxnSpPr>
        <p:spPr>
          <a:xfrm flipV="1">
            <a:off x="6243290" y="5171754"/>
            <a:ext cx="950122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0A277C9D-6E6E-9978-044F-C9FA375312DA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4751823" y="5171755"/>
            <a:ext cx="7230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9281B7B-DA54-96E6-D360-73D105FDD736}"/>
              </a:ext>
            </a:extLst>
          </p:cNvPr>
          <p:cNvCxnSpPr>
            <a:cxnSpLocks/>
          </p:cNvCxnSpPr>
          <p:nvPr/>
        </p:nvCxnSpPr>
        <p:spPr>
          <a:xfrm flipV="1">
            <a:off x="2536436" y="5175250"/>
            <a:ext cx="657614" cy="57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56CD6729-066C-94CC-EB4C-D3A8F5159840}"/>
              </a:ext>
            </a:extLst>
          </p:cNvPr>
          <p:cNvSpPr txBox="1"/>
          <p:nvPr/>
        </p:nvSpPr>
        <p:spPr>
          <a:xfrm>
            <a:off x="3368492" y="5293796"/>
            <a:ext cx="16313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LLM on local machine</a:t>
            </a:r>
            <a:endParaRPr lang="zh-CN" altLang="en-US" sz="11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36366FE-887F-3F7A-72EA-DAD8FAEEAFE8}"/>
              </a:ext>
            </a:extLst>
          </p:cNvPr>
          <p:cNvSpPr txBox="1"/>
          <p:nvPr/>
        </p:nvSpPr>
        <p:spPr>
          <a:xfrm>
            <a:off x="4920982" y="5457254"/>
            <a:ext cx="20579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https://game.agaii.org/mllm</a:t>
            </a:r>
            <a:endParaRPr lang="zh-CN" altLang="en-US" sz="11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99F3DC7-95A5-F5F8-6DD2-22F13D428A18}"/>
              </a:ext>
            </a:extLst>
          </p:cNvPr>
          <p:cNvSpPr txBox="1"/>
          <p:nvPr/>
        </p:nvSpPr>
        <p:spPr>
          <a:xfrm>
            <a:off x="1908026" y="1174914"/>
            <a:ext cx="3699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SSH reverse tunnel</a:t>
            </a:r>
            <a:endParaRPr lang="zh-CN" altLang="en-US" dirty="0"/>
          </a:p>
        </p:txBody>
      </p:sp>
      <p:sp>
        <p:nvSpPr>
          <p:cNvPr id="46" name="Content Box">
            <a:extLst>
              <a:ext uri="{FF2B5EF4-FFF2-40B4-BE49-F238E27FC236}">
                <a16:creationId xmlns:a16="http://schemas.microsoft.com/office/drawing/2014/main" id="{B2C3D4E5-F6A7-8901-2345-6789ABCDEF01}"/>
              </a:ext>
            </a:extLst>
          </p:cNvPr>
          <p:cNvSpPr txBox="1"/>
          <p:nvPr/>
        </p:nvSpPr>
        <p:spPr>
          <a:xfrm>
            <a:off x="500000" y="1200000"/>
            <a:ext cx="8500000" cy="5000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2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UIToolkitRadialMenuAdvanced:</a:t>
            </a:r>
            <a:r>
              <a:rPr lang="zh-CN" altLang="zh-CN" sz="2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 Hierarchical radial menu with UI Toolkit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2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Sub-menu support:</a:t>
            </a:r>
            <a:r>
              <a:rPr lang="zh-CN" altLang="zh-CN" sz="2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 Nested navigation for command categories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2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Gesture support:</a:t>
            </a:r>
            <a:r>
              <a:rPr lang="zh-CN" altLang="zh-CN" sz="2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 Mouse wheel and gesture-based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2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Visual effects:</a:t>
            </a:r>
            <a:r>
              <a:rPr lang="zh-CN" altLang="zh-CN" sz="2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 Ripple effects, pulse animations, gradient backgrounds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2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Transparency control:</a:t>
            </a:r>
            <a:r>
              <a:rPr lang="zh-CN" altLang="zh-CN" sz="2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 Adjustable menu, ring, and segment opacity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2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Audio feedback:</a:t>
            </a:r>
            <a:r>
              <a:rPr lang="zh-CN" altLang="zh-CN" sz="2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 xml:space="preserve"> Open, close, select, and execute sounds</a:t>
            </a:r>
          </a:p>
        </p:txBody>
      </p:sp>
    </p:spTree>
    <p:extLst>
      <p:ext uri="{BB962C8B-B14F-4D97-AF65-F5344CB8AC3E}">
        <p14:creationId xmlns:p14="http://schemas.microsoft.com/office/powerpoint/2010/main" val="3892674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4B5D-5401-DB50-AEFB-83BB6381B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55EC1-EDC6-3C5F-4A93-5D10A084D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9" y="2128037"/>
            <a:ext cx="12192769" cy="1669088"/>
          </a:xfrm>
        </p:spPr>
        <p:txBody>
          <a:bodyPr/>
          <a:lstStyle/>
          <a:p>
            <a:pPr algn="ctr"/>
            <a:r>
              <a:rPr lang="en-US" dirty="0">
                <a:latin typeface="Source Sans Pro"/>
                <a:ea typeface="Source Sans Pro"/>
              </a:rPr>
              <a:t>Symbology and Visual Systems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403463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B9B0A-5820-A987-D91A-F862F45C1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4E4F9-E044-CC9B-4FEB-3598F4E45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194888"/>
            <a:ext cx="3282080" cy="570564"/>
          </a:xfrm>
        </p:spPr>
        <p:txBody>
          <a:bodyPr/>
          <a:lstStyle/>
          <a:p>
            <a:r>
              <a:rPr lang="en-US" dirty="0">
                <a:latin typeface="Source Sans Pro"/>
                <a:ea typeface="Source Sans Pro"/>
              </a:rPr>
              <a:t>CompassBar System and SymbologyColorManager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792B1A-C9DA-0659-5B63-EE4D701ECD3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80321" y="6487183"/>
            <a:ext cx="2209080" cy="370816"/>
          </a:xfrm>
        </p:spPr>
        <p:txBody>
          <a:bodyPr/>
          <a:lstStyle/>
          <a:p>
            <a:r>
              <a:rPr lang="en-US"/>
              <a:t>Rowan University /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161AAC-CA55-E6F7-90BD-CA037973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11</a:t>
            </a:fld>
            <a:endParaRPr lang="en-US"/>
          </a:p>
        </p:txBody>
      </p:sp>
      <p:pic>
        <p:nvPicPr>
          <p:cNvPr id="3" name="图片 2" descr="图示, 示意图  AI 生成的内容可能不正确。">
            <a:extLst>
              <a:ext uri="{FF2B5EF4-FFF2-40B4-BE49-F238E27FC236}">
                <a16:creationId xmlns:a16="http://schemas.microsoft.com/office/drawing/2014/main" id="{378F3574-F0DD-AA02-C55E-7E7D29336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605" y="640076"/>
            <a:ext cx="7464473" cy="3093202"/>
          </a:xfrm>
          <a:prstGeom prst="rect">
            <a:avLst/>
          </a:prstGeom>
        </p:spPr>
      </p:pic>
      <p:pic>
        <p:nvPicPr>
          <p:cNvPr id="7" name="图片 6" descr="地图  AI 生成的内容可能不正确。">
            <a:extLst>
              <a:ext uri="{FF2B5EF4-FFF2-40B4-BE49-F238E27FC236}">
                <a16:creationId xmlns:a16="http://schemas.microsoft.com/office/drawing/2014/main" id="{FC9CAA8F-D941-D3EC-9782-D8A0F9C72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605" y="3918687"/>
            <a:ext cx="2209079" cy="2753902"/>
          </a:xfrm>
          <a:prstGeom prst="rect">
            <a:avLst/>
          </a:prstGeom>
        </p:spPr>
      </p:pic>
      <p:pic>
        <p:nvPicPr>
          <p:cNvPr id="9" name="图片 8" descr="地图  AI 生成的内容可能不正确。">
            <a:extLst>
              <a:ext uri="{FF2B5EF4-FFF2-40B4-BE49-F238E27FC236}">
                <a16:creationId xmlns:a16="http://schemas.microsoft.com/office/drawing/2014/main" id="{FCAD7CB2-7183-A135-6602-2749D2186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3303" y="3918688"/>
            <a:ext cx="2209079" cy="2753901"/>
          </a:xfrm>
          <a:prstGeom prst="rect">
            <a:avLst/>
          </a:prstGeom>
        </p:spPr>
      </p:pic>
      <p:pic>
        <p:nvPicPr>
          <p:cNvPr id="11" name="图片 10" descr="电脑游戏的截图  AI 生成的内容可能不正确。">
            <a:extLst>
              <a:ext uri="{FF2B5EF4-FFF2-40B4-BE49-F238E27FC236}">
                <a16:creationId xmlns:a16="http://schemas.microsoft.com/office/drawing/2014/main" id="{203B2286-4021-1ED4-0F48-A02BFC775F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0999" y="3918689"/>
            <a:ext cx="2209079" cy="2753901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AFF48F7E-FE63-786E-312B-D5CF1F2E5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320" y="1270873"/>
            <a:ext cx="3808997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CompassBar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•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CompassBarSystem: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 Screen-space compass with track-up mode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•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Data Handling: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lang="zh-CN" altLang="zh-CN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The TrafficRadarDataManager implements a rigorous caching strategy, requesting data from the Airplanes.live API only when the aircraft moves significantly or a time threshold expires.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•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Priority Sorting: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 Targets are sorted so the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most dangerous ones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 are processed and displayed first if system limits are hit.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SymbologyColorManager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•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SymbologyColorManager: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 Centralized color management for all HUD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•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Track-Up Mode: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 Display rotates based on aircraft heading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•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Color Adjustments: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 Black to white asset conversion for better visibility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 the radar targets, maintaining correct rotation and scale.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•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Opacity/Transparency: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 xml:space="preserve"> Voice-controlled color and transparency adjustments</a:t>
            </a:r>
          </a:p>
        </p:txBody>
      </p:sp>
    </p:spTree>
    <p:extLst>
      <p:ext uri="{BB962C8B-B14F-4D97-AF65-F5344CB8AC3E}">
        <p14:creationId xmlns:p14="http://schemas.microsoft.com/office/powerpoint/2010/main" val="3336559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7901-18FF-F132-E6C0-A6B08810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A6A22-AB8E-6D9A-A670-B8D479F8D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9" y="2128037"/>
            <a:ext cx="12192769" cy="1669088"/>
          </a:xfrm>
        </p:spPr>
        <p:txBody>
          <a:bodyPr/>
          <a:lstStyle/>
          <a:p>
            <a:pPr algn="ctr"/>
            <a:r>
              <a:rPr lang="en-US" dirty="0">
                <a:latin typeface="Source Sans Pro"/>
                <a:ea typeface="Source Sans Pro"/>
              </a:rPr>
              <a:t>Summary and Next Steps</a:t>
            </a:r>
            <a:endParaRPr lang="zh-CN" dirty="0"/>
          </a:p>
        </p:txBody>
      </p:sp>
      <p:sp>
        <p:nvSpPr>
          <p:cNvPr id="3" name="Content Box">
            <a:extLst>
              <a:ext uri="{FF2B5EF4-FFF2-40B4-BE49-F238E27FC236}">
                <a16:creationId xmlns:a16="http://schemas.microsoft.com/office/drawing/2014/main" id="{C3D4E5F6-A7B8-9012-3456-789ABCDEF012}"/>
              </a:ext>
            </a:extLst>
          </p:cNvPr>
          <p:cNvSpPr txBox="1"/>
          <p:nvPr/>
        </p:nvSpPr>
        <p:spPr>
          <a:xfrm>
            <a:off x="500000" y="1500000"/>
            <a:ext cx="11000000" cy="4500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4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Completed 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Aircraft Control Dynamics (FixedWing + Helicopter)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3D Weather Visualization System with volumetric rendering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Voice Control UI with Radial Menu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Weather Editor Tools for rapid prototyping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Symbology Color Management improvements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4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Next Steps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Integration testing with Cesium physics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Performance optimization for weather rendering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Voice command expansion</a:t>
            </a:r>
          </a:p>
        </p:txBody>
      </p:sp>
    </p:spTree>
    <p:extLst>
      <p:ext uri="{BB962C8B-B14F-4D97-AF65-F5344CB8AC3E}">
        <p14:creationId xmlns:p14="http://schemas.microsoft.com/office/powerpoint/2010/main" val="1869988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5B89D-217B-24FA-1964-8B2790583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C0AF78DB-2A25-AF6D-D4CC-35E860A6A117}"/>
              </a:ext>
            </a:extLst>
          </p:cNvPr>
          <p:cNvSpPr txBox="1"/>
          <p:nvPr/>
        </p:nvSpPr>
        <p:spPr>
          <a:xfrm>
            <a:off x="850900" y="9316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59280F"/>
                </a:solidFill>
                <a:latin typeface="Trebuchet MS"/>
                <a:ea typeface="宋体"/>
                <a:cs typeface="+mn-lt"/>
              </a:rPr>
              <a:t>DEMO</a:t>
            </a:r>
            <a:endParaRPr lang="en-US" altLang="zh-CN" sz="2400" b="1" dirty="0">
              <a:solidFill>
                <a:srgbClr val="59280F"/>
              </a:solidFill>
              <a:ea typeface="宋体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2688206"/>
      </p:ext>
    </p:extLst>
  </p:cSld>
  <p:clrMapOvr>
    <a:masterClrMapping/>
  </p:clrMapOvr>
</p:sld>
</file>

<file path=ppt/theme/theme1.xml><?xml version="1.0" encoding="utf-8"?>
<a:theme xmlns:a="http://schemas.openxmlformats.org/drawingml/2006/main" name="Rowan Theme">
  <a:themeElements>
    <a:clrScheme name="Rowan Color Theme 3">
      <a:dk1>
        <a:srgbClr val="59280F"/>
      </a:dk1>
      <a:lt1>
        <a:srgbClr val="F1F2E3"/>
      </a:lt1>
      <a:dk2>
        <a:srgbClr val="59280F"/>
      </a:dk2>
      <a:lt2>
        <a:srgbClr val="F2E6C4"/>
      </a:lt2>
      <a:accent1>
        <a:srgbClr val="FFBF21"/>
      </a:accent1>
      <a:accent2>
        <a:srgbClr val="D4971F"/>
      </a:accent2>
      <a:accent3>
        <a:srgbClr val="DE7C0F"/>
      </a:accent3>
      <a:accent4>
        <a:srgbClr val="D2CCB3"/>
      </a:accent4>
      <a:accent5>
        <a:srgbClr val="88431E"/>
      </a:accent5>
      <a:accent6>
        <a:srgbClr val="AD7C59"/>
      </a:accent6>
      <a:hlink>
        <a:srgbClr val="0044C9"/>
      </a:hlink>
      <a:folHlink>
        <a:srgbClr val="000059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wan Theme" id="{919F1DFC-F4F6-4A41-A924-449B9F6BA4A5}" vid="{539CFBDE-4FAA-244A-831F-1121501E68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Rowan Theme</Template>
  <TotalTime>109</TotalTime>
  <Words>808</Words>
  <Application>Microsoft Office PowerPoint</Application>
  <PresentationFormat>宽屏</PresentationFormat>
  <Paragraphs>92</Paragraphs>
  <Slides>21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宋体</vt:lpstr>
      <vt:lpstr>Arial</vt:lpstr>
      <vt:lpstr>Calibri</vt:lpstr>
      <vt:lpstr>Source Sans Pro</vt:lpstr>
      <vt:lpstr>Source Sans Pro Semibold</vt:lpstr>
      <vt:lpstr>Trebuchet MS</vt:lpstr>
      <vt:lpstr>Rowan Theme</vt:lpstr>
      <vt:lpstr>Symbology Progress Update</vt:lpstr>
      <vt:lpstr>PowerPoint 演示文稿</vt:lpstr>
      <vt:lpstr>Visual Understanding Module</vt:lpstr>
      <vt:lpstr>Visual Understanding Module with Multi-Modal LLM</vt:lpstr>
      <vt:lpstr>Visual Understanding Module with Multi-Modal LLM</vt:lpstr>
      <vt:lpstr>Multi-Modal LLM visual capabilities</vt:lpstr>
      <vt:lpstr>Multi-Modal LLM visual capabilities</vt:lpstr>
      <vt:lpstr>Message Communication</vt:lpstr>
      <vt:lpstr>Message Communication</vt:lpstr>
      <vt:lpstr>Traffic Radar Module</vt:lpstr>
      <vt:lpstr>Traffic Radar Module</vt:lpstr>
      <vt:lpstr>Weather 2D/3D Module</vt:lpstr>
      <vt:lpstr>Weather 2D Module</vt:lpstr>
      <vt:lpstr>Weather 3D Module- under experimenting</vt:lpstr>
      <vt:lpstr>Future visualization plan for 3D weather </vt:lpstr>
      <vt:lpstr>Voice Control System</vt:lpstr>
      <vt:lpstr>Voice Control</vt:lpstr>
      <vt:lpstr>Voice Control Logic</vt:lpstr>
      <vt:lpstr>Indicator System Update</vt:lpstr>
      <vt:lpstr>Indicator Module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Yanlai Wu</dc:creator>
  <cp:lastModifiedBy>Zlad Wu</cp:lastModifiedBy>
  <cp:revision>3</cp:revision>
  <cp:lastPrinted>2017-12-08T18:01:36Z</cp:lastPrinted>
  <dcterms:created xsi:type="dcterms:W3CDTF">2017-12-08T17:48:47Z</dcterms:created>
  <dcterms:modified xsi:type="dcterms:W3CDTF">2026-02-04T03:26:05Z</dcterms:modified>
</cp:coreProperties>
</file>