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85" r:id="rId3"/>
    <p:sldId id="281" r:id="rId4"/>
    <p:sldId id="276" r:id="rId5"/>
    <p:sldId id="299" r:id="rId6"/>
    <p:sldId id="292" r:id="rId7"/>
    <p:sldId id="293" r:id="rId8"/>
    <p:sldId id="294" r:id="rId9"/>
    <p:sldId id="295" r:id="rId10"/>
    <p:sldId id="290" r:id="rId11"/>
    <p:sldId id="291" r:id="rId12"/>
    <p:sldId id="286" r:id="rId13"/>
    <p:sldId id="289" r:id="rId14"/>
    <p:sldId id="287" r:id="rId15"/>
    <p:sldId id="288" r:id="rId16"/>
    <p:sldId id="297" r:id="rId17"/>
    <p:sldId id="298" r:id="rId18"/>
    <p:sldId id="300" r:id="rId19"/>
    <p:sldId id="278" r:id="rId20"/>
    <p:sldId id="296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1BC2F-8F6D-41D2-9091-CD6B74866306}" v="152" dt="2025-12-18T15:22:07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E3F1C-0998-1B46-A844-8235898F63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E89E8-2BF9-B945-AC5B-DFFDD6DC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0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BFE0E-5038-0240-AC1B-B3A7E5931B9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A8F2-7FE2-9D4A-ADC6-9060F750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9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0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91CB-AE6E-FE04-B695-A46DB37F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31FA7-13DD-F3D0-7F52-0FB19B546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E8158-2BC2-A8DF-42AE-3F39E4D4D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14BDC-1292-AA69-CA9F-499B82310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F5A5-76FC-F408-078A-6CCD4CA9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07F85-B531-7F63-AAFB-A676567C6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444FB-CA3D-F8BD-E00A-554E78902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9AB02-0F99-6329-DFFF-D056DD922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7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BBB8-B0A7-3AC3-97B7-98FE0606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74C3E-DAED-9A73-3EB7-D5E2AB2CF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904A0-6146-538A-D497-05DAB8EBB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C28D-FFA4-2FA5-82E5-66AD41066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73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9A3-BB2C-28DB-BB0F-CDCDB389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17481-DE6F-CC40-E581-26FADC34B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B3AEE-15F2-5DA1-9AB2-A76C399FD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689B0-C533-0A49-8F90-F6A77CA7D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73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8D39-904D-7A5A-F73C-434E0C91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B1960-603B-2D68-847E-E0335DFD9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EDABF-2E24-E9F0-71FC-713561179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46FA0-E357-D874-B20C-0421CD38C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04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DEC0-A0DC-BAD9-8BEE-684F98DF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A76FC-DAEE-5B16-6399-CC80D888B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0D032-A5A8-BEC9-FD7A-B9DD2D870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6428E-9C64-5276-1D59-7E91D3C3C8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01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241F-7D2C-DB38-FE50-EA0D96598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8E48E-9E4C-5C0C-16E7-060AEA027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ADB31-46AE-B484-57BA-6F8673E45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16F6-0349-0008-FCB6-23E92E8CC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94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3A03-EEA0-FD53-5FF9-A26A37C04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73EF6-A19F-33EE-DC84-E3E724342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3E074-5A6E-95FD-B9CF-03818BA9F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E2506-740A-2971-2A34-2F0D50E5A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45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E93E9-B5FD-7E96-8A0F-11BE855E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B9633-4B0C-4947-B14D-3E410C2E2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A6FFA-AB9D-7329-3E03-3A9E98E9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34441-EFE4-E087-B704-C5F505EFD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59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3C8A-1CD9-7FDE-206A-5A6012BB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EBDCB-5E7D-05BF-CB80-2EDD56979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BA7F-0343-2EB0-60E8-0FE9543FB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BB897-E7C1-B1E3-5F28-3B8639228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89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9B4D4-E519-5900-C24D-DC5E2B1F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6173C-30B4-D33A-5861-D498627D1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B2C2C-71DB-3253-D014-036B35F47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E27A3-4405-5753-F51E-1270AC462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62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ABB3-57B5-666C-178B-D54B485C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2A31D-961C-3A08-688C-9F007BBA0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BEA6E-7913-6C71-C6C0-8E5852632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536AC-EEE4-ACFC-850E-B3B2C7AE4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31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61A4-F1F2-1DCB-1342-BFB96CF8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71CDD-2600-8D25-350B-2DFAC4214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A90EE-31AD-93D8-3790-684940E9B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1FDB5-9300-9B68-4FDC-8D3ACCB79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43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9D53-539C-05AD-F0D7-ADD59C17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F790C-C028-37F8-B583-3705A2B45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2F441-C4B1-35A3-FB97-84BBD20E5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3AB2A-1E56-7F73-DF3F-0F8ACFA6A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A8F2-7FE2-9D4A-ADC6-9060F7504AC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0200" y="2128037"/>
            <a:ext cx="9321800" cy="1669088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0200" y="3797126"/>
            <a:ext cx="9131300" cy="862200"/>
          </a:xfrm>
        </p:spPr>
        <p:txBody>
          <a:bodyPr lIns="137160" tIns="91440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8037"/>
            <a:ext cx="2776845" cy="1660332"/>
          </a:xfrm>
          <a:prstGeom prst="rect">
            <a:avLst/>
          </a:prstGeom>
          <a:solidFill>
            <a:srgbClr val="FAC907"/>
          </a:solidFill>
        </p:spPr>
      </p:pic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70200" y="4999953"/>
            <a:ext cx="5098960" cy="1353599"/>
          </a:xfrm>
        </p:spPr>
        <p:txBody>
          <a:bodyPr anchor="b" anchorCtr="0">
            <a:normAutofit/>
          </a:bodyPr>
          <a:lstStyle>
            <a:lvl1pPr marL="91440" indent="0">
              <a:lnSpc>
                <a:spcPct val="100000"/>
              </a:lnSpc>
              <a:spcBef>
                <a:spcPts val="0"/>
              </a:spcBef>
              <a:buFontTx/>
              <a:buNone/>
              <a:defRPr sz="1100" baseline="0">
                <a:solidFill>
                  <a:schemeClr val="bg1"/>
                </a:solidFill>
              </a:defRPr>
            </a:lvl1pPr>
            <a:lvl5pPr>
              <a:spcBef>
                <a:spcPts val="0"/>
              </a:spcBef>
              <a:defRPr/>
            </a:lvl5pPr>
          </a:lstStyle>
          <a:p>
            <a:r>
              <a:rPr lang="en-US" sz="1200" b="0" i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Click to add presenter name, title, department, date, etc.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EB4E6B-3E25-5FC4-CFAF-6B3651379005}"/>
              </a:ext>
            </a:extLst>
          </p:cNvPr>
          <p:cNvGrpSpPr/>
          <p:nvPr userDrawn="1"/>
        </p:nvGrpSpPr>
        <p:grpSpPr>
          <a:xfrm>
            <a:off x="10687792" y="-1"/>
            <a:ext cx="1315357" cy="1548925"/>
            <a:chOff x="10824853" y="0"/>
            <a:chExt cx="988291" cy="11637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201AAB-47C3-1FFB-440E-87D33857DE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824853" y="0"/>
              <a:ext cx="988291" cy="1163782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8EF099-0667-D442-8E69-F46C153F57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901474" y="343842"/>
              <a:ext cx="835049" cy="523598"/>
            </a:xfrm>
            <a:prstGeom prst="rect">
              <a:avLst/>
            </a:prstGeom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5"/>
            <a:ext cx="1154152" cy="370814"/>
          </a:xfrm>
          <a:prstGeom prst="rect">
            <a:avLst/>
          </a:prstGeom>
          <a:noFill/>
        </p:spPr>
        <p:txBody>
          <a:bodyPr rIns="274320"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3"/>
          </p:nvPr>
        </p:nvSpPr>
        <p:spPr>
          <a:xfrm>
            <a:off x="680320" y="6487183"/>
            <a:ext cx="10357529" cy="370816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80321" y="1591200"/>
            <a:ext cx="11394079" cy="489598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1591200"/>
            <a:ext cx="5577840" cy="489598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96560" y="1591200"/>
            <a:ext cx="5577840" cy="489598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4" name="Footer Placeholder 13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121992"/>
            <a:ext cx="11394081" cy="1080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0" y="1591201"/>
            <a:ext cx="5577840" cy="4607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2052000"/>
            <a:ext cx="5577838" cy="443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6284" y="1590141"/>
            <a:ext cx="5577840" cy="4607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6284" y="2050940"/>
            <a:ext cx="5577840" cy="4435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6" name="Footer Placeholder 15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70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2" cy="370816"/>
          </a:xfrm>
          <a:prstGeom prst="rect">
            <a:avLst/>
          </a:prstGeom>
        </p:spPr>
        <p:txBody>
          <a:bodyPr rIns="274320"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121460"/>
            <a:ext cx="11379677" cy="1080940"/>
          </a:xfrm>
        </p:spPr>
        <p:txBody>
          <a:bodyPr anchor="b" anchorCtr="0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1580873"/>
            <a:ext cx="7722079" cy="4906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8402400" y="1580872"/>
            <a:ext cx="3789600" cy="3657600"/>
          </a:xfrm>
          <a:solidFill>
            <a:srgbClr val="FAC907"/>
          </a:solidFill>
        </p:spPr>
        <p:txBody>
          <a:bodyPr lIns="91440" tIns="45720" rIns="182880" anchor="t" anchorCtr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4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Callou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5" y="121462"/>
            <a:ext cx="11379675" cy="1080938"/>
          </a:xfrm>
        </p:spPr>
        <p:txBody>
          <a:bodyPr anchor="b" anchorCtr="0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0" y="1580872"/>
            <a:ext cx="7722079" cy="4906312"/>
          </a:xfrm>
          <a:noFill/>
          <a:ln>
            <a:noFill/>
          </a:ln>
          <a:effectLst/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2398" y="1580872"/>
            <a:ext cx="3789601" cy="3657600"/>
          </a:xfrm>
          <a:solidFill>
            <a:srgbClr val="FAC907"/>
          </a:solidFill>
        </p:spPr>
        <p:txBody>
          <a:bodyPr lIns="91440" tIns="91440" rIns="182880" anchor="t" anchorCtr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14" name="Footer Placeholder 13"/>
          <p:cNvSpPr>
            <a:spLocks noGrp="1"/>
          </p:cNvSpPr>
          <p:nvPr>
            <p:ph type="ftr" sz="quarter" idx="1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0320" y="121462"/>
            <a:ext cx="1139408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1591201"/>
            <a:ext cx="3657600" cy="460800"/>
          </a:xfrm>
        </p:spPr>
        <p:txBody>
          <a:bodyPr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1" y="2052001"/>
            <a:ext cx="3638223" cy="443518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7432" y="1591200"/>
            <a:ext cx="3657600" cy="460801"/>
          </a:xfrm>
        </p:spPr>
        <p:txBody>
          <a:bodyPr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7432" y="2052001"/>
            <a:ext cx="3657600" cy="443518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33920" y="1591200"/>
            <a:ext cx="3749040" cy="460801"/>
          </a:xfrm>
        </p:spPr>
        <p:txBody>
          <a:bodyPr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233920" y="2052001"/>
            <a:ext cx="3749040" cy="443518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112203"/>
            <a:ext cx="11379678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1561018"/>
            <a:ext cx="3659651" cy="3658982"/>
          </a:xfrm>
          <a:prstGeom prst="roundRect">
            <a:avLst>
              <a:gd name="adj" fmla="val 0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5219999"/>
            <a:ext cx="3657600" cy="126718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1361" y="1565058"/>
            <a:ext cx="3657600" cy="3654942"/>
          </a:xfrm>
          <a:prstGeom prst="roundRect">
            <a:avLst>
              <a:gd name="adj" fmla="val 0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41361" y="5219999"/>
            <a:ext cx="3657600" cy="127169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402400" y="1568186"/>
            <a:ext cx="3657600" cy="3651813"/>
          </a:xfrm>
          <a:prstGeom prst="roundRect">
            <a:avLst>
              <a:gd name="adj" fmla="val 0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402400" y="5219999"/>
            <a:ext cx="3657600" cy="126718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37849" y="6487184"/>
            <a:ext cx="1154151" cy="370816"/>
          </a:xfrm>
          <a:prstGeom prst="rect">
            <a:avLst/>
          </a:prstGeom>
        </p:spPr>
        <p:txBody>
          <a:bodyPr/>
          <a:lstStyle/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4738" y="0"/>
            <a:ext cx="465583" cy="1202400"/>
          </a:xfrm>
          <a:prstGeom prst="rect">
            <a:avLst/>
          </a:prstGeom>
          <a:solidFill>
            <a:srgbClr val="FAC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11" y="784784"/>
            <a:ext cx="366036" cy="37081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3"/>
          </p:nvPr>
        </p:nvSpPr>
        <p:spPr>
          <a:xfrm>
            <a:off x="680320" y="6487184"/>
            <a:ext cx="1035752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Rowan University / College of Xxxxxxx / Department of Xxxxxxx &amp; Xxxxxx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46400" y="6492874"/>
            <a:ext cx="945600" cy="365126"/>
          </a:xfrm>
          <a:prstGeom prst="rect">
            <a:avLst/>
          </a:prstGeom>
          <a:noFill/>
        </p:spPr>
        <p:txBody>
          <a:bodyPr rIns="274320" anchor="ctr" anchorCtr="0"/>
          <a:lstStyle>
            <a:lvl1pPr algn="r">
              <a:defRPr sz="1000" b="0" i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F39C91D9-AB68-DF4C-9289-EB6BE1EC3D4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0" y="121462"/>
            <a:ext cx="11394080" cy="10809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2"/>
            <a:ext cx="9613861" cy="4156001"/>
          </a:xfrm>
          <a:prstGeom prst="rect">
            <a:avLst/>
          </a:prstGeom>
        </p:spPr>
        <p:txBody>
          <a:bodyPr vert="horz" lIns="4572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680320" y="6492874"/>
            <a:ext cx="10566080" cy="365126"/>
          </a:xfrm>
          <a:prstGeom prst="rect">
            <a:avLst/>
          </a:prstGeom>
          <a:noFill/>
        </p:spPr>
        <p:txBody>
          <a:bodyPr vert="horz" lIns="0" tIns="45720" rIns="91440" bIns="45720" rtlCol="0" anchor="ctr" anchorCtr="0"/>
          <a:lstStyle>
            <a:lvl1pPr algn="l">
              <a:defRPr sz="1000" b="0" i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Rowan University / College of Xxxxxxx / Department of Xxxxxxx &amp; Xxxxxx</a:t>
            </a:r>
          </a:p>
        </p:txBody>
      </p:sp>
    </p:spTree>
    <p:extLst>
      <p:ext uri="{BB962C8B-B14F-4D97-AF65-F5344CB8AC3E}">
        <p14:creationId xmlns:p14="http://schemas.microsoft.com/office/powerpoint/2010/main" val="21100106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13716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1pPr>
      <a:lvl2pPr marL="6858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2pPr>
      <a:lvl3pPr marL="11430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3pPr>
      <a:lvl4pPr marL="16002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4pPr>
      <a:lvl5pPr marL="2057400" indent="-13716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Source Sans Pro" charset="0"/>
          <a:ea typeface="Source Sans Pro" charset="0"/>
          <a:cs typeface="Source Sans Pr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Symbology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137160" tIns="91440" rIns="91440" bIns="45720" rtlCol="0" anchor="t">
            <a:normAutofit/>
          </a:bodyPr>
          <a:lstStyle/>
          <a:p>
            <a:r>
              <a:rPr lang="en-US" dirty="0" err="1">
                <a:latin typeface="Source Sans Pro"/>
                <a:ea typeface="Source Sans Pro"/>
              </a:rPr>
              <a:t>Yanlai</a:t>
            </a:r>
            <a:r>
              <a:rPr lang="en-US" dirty="0">
                <a:latin typeface="Source Sans Pro"/>
                <a:ea typeface="Source Sans Pro"/>
              </a:rPr>
              <a:t> Wu</a:t>
            </a:r>
          </a:p>
        </p:txBody>
      </p:sp>
      <p:pic>
        <p:nvPicPr>
          <p:cNvPr id="1028" name="Picture 4" descr="Image result for FAA badge">
            <a:extLst>
              <a:ext uri="{FF2B5EF4-FFF2-40B4-BE49-F238E27FC236}">
                <a16:creationId xmlns:a16="http://schemas.microsoft.com/office/drawing/2014/main" id="{34BBC9A3-9EBB-9B06-FF0D-1C6D4E139A8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21" y="4825165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6E0F600-AA5B-D8AB-F345-C10BD6664E9B}"/>
              </a:ext>
            </a:extLst>
          </p:cNvPr>
          <p:cNvSpPr txBox="1"/>
          <p:nvPr/>
        </p:nvSpPr>
        <p:spPr>
          <a:xfrm>
            <a:off x="9257915" y="6179127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800">
                <a:solidFill>
                  <a:srgbClr val="59280F"/>
                </a:solidFill>
                <a:latin typeface="Source Sans Pro"/>
                <a:ea typeface="宋体"/>
              </a:rPr>
              <a:t>Advisor: Dr. Tang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009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071ED-F60A-08E6-2EBB-5D4CCCA7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图示&#10;&#10;AI 生成的内容可能不正确。">
            <a:extLst>
              <a:ext uri="{FF2B5EF4-FFF2-40B4-BE49-F238E27FC236}">
                <a16:creationId xmlns:a16="http://schemas.microsoft.com/office/drawing/2014/main" id="{C5777117-7F1D-A1DD-CCCD-26F751FF9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8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F655-DFC7-0FF9-A817-C35527D7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ED50-E399-8053-D7DA-BD448A608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Visual Understanding Module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3737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0B7B-4A32-10CB-A608-85C23624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F90C-364E-61DE-059E-B73C9B11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21462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Visual Understanding Module with Multi-Modal LLM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00A12-7612-2391-1B5C-605A6F6150F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9E4F9-261C-1D9E-745C-8DF5443B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0CCF6-1C0C-8AE8-5C78-DCCE92718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442" y="1421347"/>
            <a:ext cx="6860809" cy="3963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A3F16758-93CF-A3FD-6171-0CA5558BF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53" y="1165454"/>
            <a:ext cx="468736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1600" dirty="0">
              <a:solidFill>
                <a:schemeClr val="tx2">
                  <a:lumMod val="10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Core Function: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The Visual Understanding module serves as an intelligent co-pilot, converting raw cockpit visual data (including charts, radar, and instruments) into concise semantic briefings.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LLM Integration: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The VisionLLMClient interfaces with OpenAI-compatible APIs, supporting custom hosted models like Qwen/Qwen3-VL-</a:t>
            </a:r>
            <a:r>
              <a:rPr lang="en-US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32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B-Instruct-FP8.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Real-time Feedback: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Server-Sent Events (SSE) are handled to provide real-time feedback during long analysis generations.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Specialized Analysis: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Implementations include the SectionalChartAnalyzer (identifying airspace frequencies and obstacle heights) and the WeatherRadarAnalyzer (mapping visual colors to meteorological severity, such as Light, Moderate, or Extreme Precipitation).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044AD7-BD4F-F2A2-5A7C-DB0C1075BE4B}"/>
              </a:ext>
            </a:extLst>
          </p:cNvPr>
          <p:cNvSpPr txBox="1"/>
          <p:nvPr/>
        </p:nvSpPr>
        <p:spPr>
          <a:xfrm>
            <a:off x="6989371" y="5381993"/>
            <a:ext cx="302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Qwen3-VL Model Pipeline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030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659C-0EE5-E78A-BAA5-CF983A2F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060C-FC74-A668-F717-80B61541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21462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Visual Understanding Module with Multi-Modal LLM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82C34-68CE-4485-7FB7-BD9231612D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A55CD-768E-A8EB-E892-4765F410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5</a:t>
            </a:fld>
            <a:endParaRPr lang="en-US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8FEA2DF0-3FFB-64D1-0DD4-9CE652075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0" y="1294054"/>
            <a:ext cx="11276822" cy="453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3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F9E3-D96E-9A66-EAEC-94FB7735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309B-F983-F075-B473-ECB55981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21462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Multi-Modal LLM visual capabilities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DC724-8815-5894-E148-B802618E416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34A40-E7E8-1A30-C4FD-F525A5F3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6</a:t>
            </a:fld>
            <a:endParaRPr lang="en-US"/>
          </a:p>
        </p:txBody>
      </p:sp>
      <p:pic>
        <p:nvPicPr>
          <p:cNvPr id="6" name="图片 5" descr="亮着屏幕的电脑截图&#10;&#10;AI 生成的内容可能不正确。">
            <a:extLst>
              <a:ext uri="{FF2B5EF4-FFF2-40B4-BE49-F238E27FC236}">
                <a16:creationId xmlns:a16="http://schemas.microsoft.com/office/drawing/2014/main" id="{AFFC846F-3368-5170-5427-37EAF0C5A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57" y="1141256"/>
            <a:ext cx="5533903" cy="2671463"/>
          </a:xfrm>
          <a:prstGeom prst="rect">
            <a:avLst/>
          </a:prstGeom>
        </p:spPr>
      </p:pic>
      <p:pic>
        <p:nvPicPr>
          <p:cNvPr id="12" name="图片 11" descr="电脑萤幕的截图&#10;&#10;AI 生成的内容可能不正确。">
            <a:extLst>
              <a:ext uri="{FF2B5EF4-FFF2-40B4-BE49-F238E27FC236}">
                <a16:creationId xmlns:a16="http://schemas.microsoft.com/office/drawing/2014/main" id="{2A3998DE-3A5A-0417-1F63-85DB28762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454" y="702624"/>
            <a:ext cx="2914805" cy="2498405"/>
          </a:xfrm>
          <a:prstGeom prst="rect">
            <a:avLst/>
          </a:prstGeom>
        </p:spPr>
      </p:pic>
      <p:pic>
        <p:nvPicPr>
          <p:cNvPr id="5122" name="Picture 2" descr="Annotated detection result">
            <a:extLst>
              <a:ext uri="{FF2B5EF4-FFF2-40B4-BE49-F238E27FC236}">
                <a16:creationId xmlns:a16="http://schemas.microsoft.com/office/drawing/2014/main" id="{794FA04E-1BE4-A5DB-F764-4FB55EC1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991" y="3949504"/>
            <a:ext cx="4983161" cy="280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764F33AD-EA08-F9B7-C5CB-9C090028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90" y="3502879"/>
            <a:ext cx="578811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Accurately </a:t>
            </a: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identifies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 and </a:t>
            </a: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localizes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HUD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 instruments in complex, dynamic scenes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Demonstrates </a:t>
            </a: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pixel-level understanding 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and robust </a:t>
            </a:r>
            <a:r>
              <a:rPr lang="zh-CN" altLang="zh-CN" sz="24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spatial reasoning</a:t>
            </a:r>
            <a:r>
              <a:rPr lang="zh-CN" altLang="zh-CN" sz="24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C5CAFA89-6FF1-43A5-1275-92FE5D02E70F}"/>
              </a:ext>
            </a:extLst>
          </p:cNvPr>
          <p:cNvSpPr/>
          <p:nvPr/>
        </p:nvSpPr>
        <p:spPr>
          <a:xfrm>
            <a:off x="6437870" y="2174789"/>
            <a:ext cx="1556952" cy="296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912AF51-979D-2ACF-2E42-DF28EECAEB47}"/>
              </a:ext>
            </a:extLst>
          </p:cNvPr>
          <p:cNvSpPr/>
          <p:nvPr/>
        </p:nvSpPr>
        <p:spPr>
          <a:xfrm rot="5400000">
            <a:off x="9363046" y="3426985"/>
            <a:ext cx="695612" cy="296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52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电脑萤幕的截图&#10;&#10;AI 生成的内容可能不正确。">
            <a:extLst>
              <a:ext uri="{FF2B5EF4-FFF2-40B4-BE49-F238E27FC236}">
                <a16:creationId xmlns:a16="http://schemas.microsoft.com/office/drawing/2014/main" id="{9F80F378-B36D-4EB9-CAD1-DC19427B8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442" y="869091"/>
            <a:ext cx="6808573" cy="561398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62454AD-D0C2-204D-0054-690844B2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25" y="90570"/>
            <a:ext cx="4202830" cy="8437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Multi-Modal LLM visual capabilities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7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9EB1-5F78-F2F0-AC88-591D65AF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9FAA-40F8-0CE8-686F-601539C87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altLang="zh-CN" dirty="0">
                <a:latin typeface="Source Sans Pro"/>
                <a:ea typeface="Source Sans Pro"/>
              </a:rPr>
              <a:t>Message Communication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82284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BDD9-C95C-71A6-8F8F-1D47CFB5B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2165-50FD-9338-745C-7AC4E2F0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454684"/>
            <a:ext cx="4202830" cy="370816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Source Sans Pro"/>
                <a:ea typeface="Source Sans Pro"/>
              </a:rPr>
              <a:t>Message Communication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00C3E-15F7-4C8A-3719-8BC308A3F75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989DD-2709-15FA-B18B-F678901A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9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6231E550-476F-E3D8-C6FB-C342A6F96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47" y="1530450"/>
            <a:ext cx="4761905" cy="16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B34097-08F3-1AD6-03A0-502F2C535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392" y="1530450"/>
            <a:ext cx="4428679" cy="343308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28EC95B8-279D-00D8-7B90-9917E311A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392" y="2528149"/>
            <a:ext cx="4428679" cy="60230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BAF0DDE-77E4-C9C2-14B1-03D3CA1FA53F}"/>
              </a:ext>
            </a:extLst>
          </p:cNvPr>
          <p:cNvSpPr txBox="1"/>
          <p:nvPr/>
        </p:nvSpPr>
        <p:spPr>
          <a:xfrm>
            <a:off x="1163492" y="3098805"/>
            <a:ext cx="4263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Executed on </a:t>
            </a:r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local machine running LLM or other stuff (w/o public IP)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25C1D2-B0C3-75D0-53B5-669512A65139}"/>
              </a:ext>
            </a:extLst>
          </p:cNvPr>
          <p:cNvSpPr txBox="1"/>
          <p:nvPr/>
        </p:nvSpPr>
        <p:spPr>
          <a:xfrm>
            <a:off x="7543806" y="1857667"/>
            <a:ext cx="311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Local Machine (w/o public IP)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E0D8E5-EE9B-8F5B-A6CF-0029B7CE7C25}"/>
              </a:ext>
            </a:extLst>
          </p:cNvPr>
          <p:cNvSpPr txBox="1"/>
          <p:nvPr/>
        </p:nvSpPr>
        <p:spPr>
          <a:xfrm>
            <a:off x="7404100" y="3102344"/>
            <a:ext cx="363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Remote Machine (with public IP)</a:t>
            </a:r>
            <a:endParaRPr lang="zh-CN" altLang="en-US" dirty="0"/>
          </a:p>
        </p:txBody>
      </p:sp>
      <p:pic>
        <p:nvPicPr>
          <p:cNvPr id="18" name="图片 17" descr="手机屏幕的截图&#10;&#10;AI 生成的内容可能不正确。">
            <a:extLst>
              <a:ext uri="{FF2B5EF4-FFF2-40B4-BE49-F238E27FC236}">
                <a16:creationId xmlns:a16="http://schemas.microsoft.com/office/drawing/2014/main" id="{3345F960-D861-C82D-3C1B-70E92CE21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412" y="3766774"/>
            <a:ext cx="3914285" cy="77142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F95FB20-B76F-AF33-D632-C88BC9FC0AA4}"/>
              </a:ext>
            </a:extLst>
          </p:cNvPr>
          <p:cNvSpPr txBox="1"/>
          <p:nvPr/>
        </p:nvSpPr>
        <p:spPr>
          <a:xfrm>
            <a:off x="8162925" y="5555406"/>
            <a:ext cx="2120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Nginx Proxy Pass</a:t>
            </a:r>
            <a:endParaRPr lang="zh-CN" altLang="en-US" dirty="0"/>
          </a:p>
        </p:txBody>
      </p:sp>
      <p:pic>
        <p:nvPicPr>
          <p:cNvPr id="22" name="图片 21" descr="文本&#10;&#10;AI 生成的内容可能不正确。">
            <a:extLst>
              <a:ext uri="{FF2B5EF4-FFF2-40B4-BE49-F238E27FC236}">
                <a16:creationId xmlns:a16="http://schemas.microsoft.com/office/drawing/2014/main" id="{F280AF2A-D197-53B6-5B5F-68021FF25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3413" y="4538203"/>
            <a:ext cx="3914286" cy="971429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249DA4E-E497-10AC-5CF8-1F720059D457}"/>
              </a:ext>
            </a:extLst>
          </p:cNvPr>
          <p:cNvSpPr txBox="1"/>
          <p:nvPr/>
        </p:nvSpPr>
        <p:spPr>
          <a:xfrm>
            <a:off x="787697" y="5678305"/>
            <a:ext cx="1786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Local Devices</a:t>
            </a:r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A55A7EE1-4503-9DF3-D7B9-DDC12A685BCE}"/>
              </a:ext>
            </a:extLst>
          </p:cNvPr>
          <p:cNvSpPr/>
          <p:nvPr/>
        </p:nvSpPr>
        <p:spPr>
          <a:xfrm>
            <a:off x="5607050" y="2226999"/>
            <a:ext cx="1029000" cy="2050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4617220-9F55-BF72-61D1-0917527858C0}"/>
              </a:ext>
            </a:extLst>
          </p:cNvPr>
          <p:cNvSpPr/>
          <p:nvPr/>
        </p:nvSpPr>
        <p:spPr>
          <a:xfrm rot="5400000">
            <a:off x="9013878" y="2245005"/>
            <a:ext cx="304508" cy="2478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E65AF71B-8CBB-567B-04CB-8CAC504C39DB}"/>
              </a:ext>
            </a:extLst>
          </p:cNvPr>
          <p:cNvSpPr/>
          <p:nvPr/>
        </p:nvSpPr>
        <p:spPr>
          <a:xfrm rot="5400000">
            <a:off x="9017059" y="3439796"/>
            <a:ext cx="304508" cy="2478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图片包含 图标&#10;&#10;AI 生成的内容可能不正确。">
            <a:extLst>
              <a:ext uri="{FF2B5EF4-FFF2-40B4-BE49-F238E27FC236}">
                <a16:creationId xmlns:a16="http://schemas.microsoft.com/office/drawing/2014/main" id="{1A6614BD-0D67-59AB-7CF4-DAD3D2C780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697" y="4617261"/>
            <a:ext cx="751591" cy="1017304"/>
          </a:xfrm>
          <a:prstGeom prst="rect">
            <a:avLst/>
          </a:prstGeom>
        </p:spPr>
      </p:pic>
      <p:pic>
        <p:nvPicPr>
          <p:cNvPr id="30" name="图片 29" descr="图标&#10;&#10;AI 生成的内容可能不正确。">
            <a:extLst>
              <a:ext uri="{FF2B5EF4-FFF2-40B4-BE49-F238E27FC236}">
                <a16:creationId xmlns:a16="http://schemas.microsoft.com/office/drawing/2014/main" id="{6DB64468-5579-2D9F-B337-0DDFD76D19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1242" y="4807015"/>
            <a:ext cx="905194" cy="729480"/>
          </a:xfrm>
          <a:prstGeom prst="rect">
            <a:avLst/>
          </a:prstGeom>
        </p:spPr>
      </p:pic>
      <p:pic>
        <p:nvPicPr>
          <p:cNvPr id="32" name="图片 31" descr="图标&#10;&#10;AI 生成的内容可能不正确。">
            <a:extLst>
              <a:ext uri="{FF2B5EF4-FFF2-40B4-BE49-F238E27FC236}">
                <a16:creationId xmlns:a16="http://schemas.microsoft.com/office/drawing/2014/main" id="{7E2A6631-156E-5827-07D8-AE60D5C458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4877" y="4807015"/>
            <a:ext cx="768413" cy="729480"/>
          </a:xfrm>
          <a:prstGeom prst="rect">
            <a:avLst/>
          </a:prstGeom>
        </p:spPr>
      </p:pic>
      <p:pic>
        <p:nvPicPr>
          <p:cNvPr id="34" name="图片 33" descr="徽标&#10;&#10;AI 生成的内容可能不正确。">
            <a:extLst>
              <a:ext uri="{FF2B5EF4-FFF2-40B4-BE49-F238E27FC236}">
                <a16:creationId xmlns:a16="http://schemas.microsoft.com/office/drawing/2014/main" id="{C27CA32F-7387-7E19-EAB9-53E188BC7C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4999" y="4954245"/>
            <a:ext cx="1631323" cy="435019"/>
          </a:xfrm>
          <a:prstGeom prst="rect">
            <a:avLst/>
          </a:prstGeom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6471102-0C04-FFD7-7AF5-6C667F50A119}"/>
              </a:ext>
            </a:extLst>
          </p:cNvPr>
          <p:cNvCxnSpPr>
            <a:stCxn id="32" idx="3"/>
          </p:cNvCxnSpPr>
          <p:nvPr/>
        </p:nvCxnSpPr>
        <p:spPr>
          <a:xfrm flipV="1">
            <a:off x="6243290" y="5171754"/>
            <a:ext cx="95012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A277C9D-6E6E-9978-044F-C9FA375312DA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4751823" y="5171755"/>
            <a:ext cx="7230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9281B7B-DA54-96E6-D360-73D105FDD736}"/>
              </a:ext>
            </a:extLst>
          </p:cNvPr>
          <p:cNvCxnSpPr>
            <a:cxnSpLocks/>
          </p:cNvCxnSpPr>
          <p:nvPr/>
        </p:nvCxnSpPr>
        <p:spPr>
          <a:xfrm flipV="1">
            <a:off x="2536436" y="5175250"/>
            <a:ext cx="657614" cy="57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56CD6729-066C-94CC-EB4C-D3A8F5159840}"/>
              </a:ext>
            </a:extLst>
          </p:cNvPr>
          <p:cNvSpPr txBox="1"/>
          <p:nvPr/>
        </p:nvSpPr>
        <p:spPr>
          <a:xfrm>
            <a:off x="3368492" y="5293796"/>
            <a:ext cx="16313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LLM on local machine</a:t>
            </a:r>
            <a:endParaRPr lang="zh-CN" altLang="en-US" sz="11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36366FE-887F-3F7A-72EA-DAD8FAEEAFE8}"/>
              </a:ext>
            </a:extLst>
          </p:cNvPr>
          <p:cNvSpPr txBox="1"/>
          <p:nvPr/>
        </p:nvSpPr>
        <p:spPr>
          <a:xfrm>
            <a:off x="4920982" y="5457254"/>
            <a:ext cx="20579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https://game.agaii.org/mllm</a:t>
            </a:r>
            <a:endParaRPr lang="zh-CN" altLang="en-US" sz="11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99F3DC7-95A5-F5F8-6DD2-22F13D428A18}"/>
              </a:ext>
            </a:extLst>
          </p:cNvPr>
          <p:cNvSpPr txBox="1"/>
          <p:nvPr/>
        </p:nvSpPr>
        <p:spPr>
          <a:xfrm>
            <a:off x="1908026" y="1174914"/>
            <a:ext cx="3699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SSH reverse tunnel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267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4B5D-5401-DB50-AEFB-83BB6381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55EC1-EDC6-3C5F-4A93-5D10A084D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Traffic Radar Module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403463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9B0A-5820-A987-D91A-F862F45C1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E4F9-E044-CC9B-4FEB-3598F4E4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94888"/>
            <a:ext cx="3282080" cy="570564"/>
          </a:xfrm>
        </p:spPr>
        <p:txBody>
          <a:bodyPr/>
          <a:lstStyle/>
          <a:p>
            <a:r>
              <a:rPr lang="en-US" dirty="0">
                <a:latin typeface="Source Sans Pro"/>
                <a:ea typeface="Source Sans Pro"/>
              </a:rPr>
              <a:t>Traffic Radar Module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92B1A-C9DA-0659-5B63-EE4D701ECD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80321" y="6487183"/>
            <a:ext cx="2209080" cy="370816"/>
          </a:xfrm>
        </p:spPr>
        <p:txBody>
          <a:bodyPr/>
          <a:lstStyle/>
          <a:p>
            <a:r>
              <a:rPr lang="en-US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61AAC-CA55-E6F7-90BD-CA037973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11</a:t>
            </a:fld>
            <a:endParaRPr lang="en-US"/>
          </a:p>
        </p:txBody>
      </p:sp>
      <p:pic>
        <p:nvPicPr>
          <p:cNvPr id="3" name="图片 2" descr="图示, 示意图&#10;&#10;AI 生成的内容可能不正确。">
            <a:extLst>
              <a:ext uri="{FF2B5EF4-FFF2-40B4-BE49-F238E27FC236}">
                <a16:creationId xmlns:a16="http://schemas.microsoft.com/office/drawing/2014/main" id="{378F3574-F0DD-AA02-C55E-7E7D29336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605" y="640076"/>
            <a:ext cx="7464473" cy="3093202"/>
          </a:xfrm>
          <a:prstGeom prst="rect">
            <a:avLst/>
          </a:prstGeom>
        </p:spPr>
      </p:pic>
      <p:pic>
        <p:nvPicPr>
          <p:cNvPr id="7" name="图片 6" descr="地图&#10;&#10;AI 生成的内容可能不正确。">
            <a:extLst>
              <a:ext uri="{FF2B5EF4-FFF2-40B4-BE49-F238E27FC236}">
                <a16:creationId xmlns:a16="http://schemas.microsoft.com/office/drawing/2014/main" id="{FC9CAA8F-D941-D3EC-9782-D8A0F9C72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605" y="3918687"/>
            <a:ext cx="2209079" cy="2753902"/>
          </a:xfrm>
          <a:prstGeom prst="rect">
            <a:avLst/>
          </a:prstGeom>
        </p:spPr>
      </p:pic>
      <p:pic>
        <p:nvPicPr>
          <p:cNvPr id="9" name="图片 8" descr="地图&#10;&#10;AI 生成的内容可能不正确。">
            <a:extLst>
              <a:ext uri="{FF2B5EF4-FFF2-40B4-BE49-F238E27FC236}">
                <a16:creationId xmlns:a16="http://schemas.microsoft.com/office/drawing/2014/main" id="{FCAD7CB2-7183-A135-6602-2749D2186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303" y="3918688"/>
            <a:ext cx="2209079" cy="2753901"/>
          </a:xfrm>
          <a:prstGeom prst="rect">
            <a:avLst/>
          </a:prstGeom>
        </p:spPr>
      </p:pic>
      <p:pic>
        <p:nvPicPr>
          <p:cNvPr id="11" name="图片 10" descr="电脑游戏的截图&#10;&#10;AI 生成的内容可能不正确。">
            <a:extLst>
              <a:ext uri="{FF2B5EF4-FFF2-40B4-BE49-F238E27FC236}">
                <a16:creationId xmlns:a16="http://schemas.microsoft.com/office/drawing/2014/main" id="{203B2286-4021-1ED4-0F48-A02BFC775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0999" y="3918689"/>
            <a:ext cx="2209079" cy="2753901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AFF48F7E-FE63-786E-312B-D5CF1F2E5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20" y="1270873"/>
            <a:ext cx="3808997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Overview and Purpose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Function: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A complete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TCAS-like (Traffic Collision Avoidance System) display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powered by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live ADS-B data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Data Handling: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zh-CN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The TrafficRadarDataManager implements a rigorous caching strategy, requesting data from the Airplanes.live API only when the aircraft moves significantly or a time threshold expires.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Priority Sorting: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Targets are sorted so the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most dangerous ones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are processed and displayed first if system limits are hit.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Display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Rendering: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Uses a mask component to clip the display to a circle.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Visualization Modes: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Supports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Track-Up Mode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which rotates the display and compass rose based on the aircraft heading.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Underlays: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Integrates with a provider to render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Sectional Chart map tiles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beneath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the radar targets, maintaining correct rotation and 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User Experience: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Employs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Micro-Animations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to smoothly interpolate range changes (e.g., zooming from 10nm to 20nm) to prevent jarring visual jumps.</a:t>
            </a:r>
          </a:p>
        </p:txBody>
      </p:sp>
    </p:spTree>
    <p:extLst>
      <p:ext uri="{BB962C8B-B14F-4D97-AF65-F5344CB8AC3E}">
        <p14:creationId xmlns:p14="http://schemas.microsoft.com/office/powerpoint/2010/main" val="3336559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7901-18FF-F132-E6C0-A6B08810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6A22-AB8E-6D9A-A670-B8D479F8D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Weather 2D/3D Module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86998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9A0D-506C-78B0-F6C8-80934665D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AAB3-CD46-7841-2E3A-6004FE3A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322" y="77003"/>
            <a:ext cx="5415680" cy="676441"/>
          </a:xfrm>
        </p:spPr>
        <p:txBody>
          <a:bodyPr/>
          <a:lstStyle/>
          <a:p>
            <a:r>
              <a:rPr lang="en-US" altLang="zh-CN" dirty="0">
                <a:latin typeface="Source Sans Pro"/>
                <a:ea typeface="Source Sans Pro"/>
              </a:rPr>
              <a:t>Weather 2D Module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3DE60-C4F5-87D6-8881-0919E223D97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Rowan University /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C98BA-A0F1-C54A-5039-9FB27EDE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13</a:t>
            </a:fld>
            <a:endParaRPr lang="en-US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AB6B8C84-3776-0B99-E644-57E925AC6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755" y="1443841"/>
            <a:ext cx="5643503" cy="3970317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1DA717F-B84D-061F-023F-09231680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22" y="1443840"/>
            <a:ext cx="509028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Composite Radar System: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Fetches, stitches, and processes real-world weather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Tile Architecture: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The </a:t>
            </a:r>
            <a:r>
              <a:rPr lang="zh-CN" altLang="zh-CN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NOAAWeatherProvider acts as a mapping engine, dynamically selecting API zoom levels (1-10) based on the radar's generic range setting (NM).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Compositing Strategy: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Downloads a grid of 256px tiles (e.g., 3x3 or 5x5) and blits them into a single large </a:t>
            </a:r>
            <a:r>
              <a:rPr lang="zh-CN" altLang="zh-CN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Texture2D composite.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Virtual Camera: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The final "Radar Texture" uses a virtual camera that pans and rotates over the static composite to match the aircraft heading, preventing data re-download when the plane turns.</a:t>
            </a:r>
          </a:p>
        </p:txBody>
      </p:sp>
    </p:spTree>
    <p:extLst>
      <p:ext uri="{BB962C8B-B14F-4D97-AF65-F5344CB8AC3E}">
        <p14:creationId xmlns:p14="http://schemas.microsoft.com/office/powerpoint/2010/main" val="873313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9F0B2B8-8576-A4DC-7307-01DB47B2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14</a:t>
            </a:fld>
            <a:endParaRPr lang="en-US"/>
          </a:p>
        </p:txBody>
      </p:sp>
      <p:pic>
        <p:nvPicPr>
          <p:cNvPr id="9" name="图片 8" descr="电脑的屏幕&#10;&#10;AI 生成的内容可能不正确。">
            <a:extLst>
              <a:ext uri="{FF2B5EF4-FFF2-40B4-BE49-F238E27FC236}">
                <a16:creationId xmlns:a16="http://schemas.microsoft.com/office/drawing/2014/main" id="{1286ACE6-01F2-2620-5C31-4D4DBA912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881" y="910761"/>
            <a:ext cx="9971380" cy="53071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F6C1D1C-B4E3-C5AC-9089-420473D7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-9625"/>
            <a:ext cx="5415680" cy="676441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Source Sans Pro"/>
                <a:ea typeface="Source Sans Pro"/>
              </a:rPr>
              <a:t>Weather 3D Module- under experimenting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210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243FC-6627-5E59-2A34-9C69F455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D0B958-2DBD-C93E-4682-2785617E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15</a:t>
            </a:fld>
            <a:endParaRPr lang="en-US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7C8228FC-6B2B-FDED-6426-AD20B7D4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383" y="1927653"/>
            <a:ext cx="5304053" cy="3395691"/>
          </a:xfrm>
          <a:prstGeom prst="rect">
            <a:avLst/>
          </a:prstGeom>
        </p:spPr>
      </p:pic>
      <p:pic>
        <p:nvPicPr>
          <p:cNvPr id="6" name="图片 5" descr="卡通人物&#10;&#10;AI 生成的内容可能不正确。">
            <a:extLst>
              <a:ext uri="{FF2B5EF4-FFF2-40B4-BE49-F238E27FC236}">
                <a16:creationId xmlns:a16="http://schemas.microsoft.com/office/drawing/2014/main" id="{21D8B30C-E497-1504-C254-6EECF7137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64" y="1927654"/>
            <a:ext cx="5965192" cy="339569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08A4AE2-24AD-6A5E-8A03-07C03105F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97709"/>
            <a:ext cx="5415680" cy="555605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visualization plan for 3D weather </a:t>
            </a:r>
          </a:p>
        </p:txBody>
      </p:sp>
    </p:spTree>
    <p:extLst>
      <p:ext uri="{BB962C8B-B14F-4D97-AF65-F5344CB8AC3E}">
        <p14:creationId xmlns:p14="http://schemas.microsoft.com/office/powerpoint/2010/main" val="23324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AE4C-87AB-F8DA-5440-AAEB2CB7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5B3F-5455-CEF7-7B5C-2FEC1E90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Voice Control System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4635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98D5-7B1F-CC97-632D-30FB3A390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F3003D8-CB36-C02F-33EC-6A56846F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17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3B7EBE-91B7-2288-04B7-FB7C0692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97709"/>
            <a:ext cx="5415680" cy="555605"/>
          </a:xfrm>
        </p:spPr>
        <p:txBody>
          <a:bodyPr>
            <a:normAutofit/>
          </a:bodyPr>
          <a:lstStyle/>
          <a:p>
            <a:r>
              <a:rPr lang="en-US" dirty="0"/>
              <a:t>Voice Control</a:t>
            </a:r>
          </a:p>
        </p:txBody>
      </p:sp>
      <p:pic>
        <p:nvPicPr>
          <p:cNvPr id="5" name="图片 4" descr="日程表&#10;&#10;AI 生成的内容可能不正确。">
            <a:extLst>
              <a:ext uri="{FF2B5EF4-FFF2-40B4-BE49-F238E27FC236}">
                <a16:creationId xmlns:a16="http://schemas.microsoft.com/office/drawing/2014/main" id="{1593CE3E-B441-49AB-ACB4-1832FFBBB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58" y="942244"/>
            <a:ext cx="10701867" cy="497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48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5474-7093-5403-E3A6-4BE7969A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472BFE-3068-B5FC-CA5E-30C21DBD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18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2137BD-D2D6-BD08-B431-7BF87226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97709"/>
            <a:ext cx="5415680" cy="555605"/>
          </a:xfrm>
        </p:spPr>
        <p:txBody>
          <a:bodyPr>
            <a:normAutofit/>
          </a:bodyPr>
          <a:lstStyle/>
          <a:p>
            <a:r>
              <a:rPr lang="en-US" dirty="0"/>
              <a:t>Voice Control Logic</a:t>
            </a:r>
          </a:p>
        </p:txBody>
      </p:sp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07889CE6-2355-91DD-A706-712A847E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20" y="938352"/>
            <a:ext cx="11082867" cy="51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11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35D79-1B70-60EC-2C99-899D2083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AD6B-A476-8BA4-0C62-195287AC2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" y="2128037"/>
            <a:ext cx="12192769" cy="1669088"/>
          </a:xfrm>
        </p:spPr>
        <p:txBody>
          <a:bodyPr/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Indicator System Update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482493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3120C-B640-1724-1D88-F0E163FB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799AAC-F0AB-29BB-9205-52C6244F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91D9-AB68-DF4C-9289-EB6BE1EC3D4E}" type="slidenum">
              <a:rPr lang="en-US" smtClean="0"/>
              <a:t>20</a:t>
            </a:fld>
            <a:endParaRPr lang="en-US"/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2C2FD624-968C-BB9B-C926-28B0EF262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540" y="99614"/>
            <a:ext cx="1723068" cy="1561529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B4F6A489-EC9D-8226-F46D-3A40AC0E8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583" y="99614"/>
            <a:ext cx="1723068" cy="1561528"/>
          </a:xfrm>
          <a:prstGeom prst="rect">
            <a:avLst/>
          </a:prstGeom>
        </p:spPr>
      </p:pic>
      <p:pic>
        <p:nvPicPr>
          <p:cNvPr id="9" name="图片 8" descr="黑暗中的标志&#10;&#10;AI 生成的内容可能不正确。">
            <a:extLst>
              <a:ext uri="{FF2B5EF4-FFF2-40B4-BE49-F238E27FC236}">
                <a16:creationId xmlns:a16="http://schemas.microsoft.com/office/drawing/2014/main" id="{BC69EEC6-4589-9722-23FB-26CAFFE98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583" y="1771649"/>
            <a:ext cx="1723068" cy="1550760"/>
          </a:xfrm>
          <a:prstGeom prst="rect">
            <a:avLst/>
          </a:prstGeom>
        </p:spPr>
      </p:pic>
      <p:pic>
        <p:nvPicPr>
          <p:cNvPr id="11" name="图片 10" descr="图形用户界面&#10;&#10;AI 生成的内容可能不正确。">
            <a:extLst>
              <a:ext uri="{FF2B5EF4-FFF2-40B4-BE49-F238E27FC236}">
                <a16:creationId xmlns:a16="http://schemas.microsoft.com/office/drawing/2014/main" id="{EB8D2DE8-0EF2-1417-7DF6-4BB159101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7539" y="1771649"/>
            <a:ext cx="1723067" cy="1550760"/>
          </a:xfrm>
          <a:prstGeom prst="rect">
            <a:avLst/>
          </a:prstGeom>
        </p:spPr>
      </p:pic>
      <p:pic>
        <p:nvPicPr>
          <p:cNvPr id="15" name="图片 14" descr="图片包含 图示&#10;&#10;AI 生成的内容可能不正确。">
            <a:extLst>
              <a:ext uri="{FF2B5EF4-FFF2-40B4-BE49-F238E27FC236}">
                <a16:creationId xmlns:a16="http://schemas.microsoft.com/office/drawing/2014/main" id="{D92E4108-64D7-02C9-ACFA-5D4B63442D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7600" y="3399228"/>
            <a:ext cx="5444318" cy="301113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61C9897-B956-7766-689E-6861AEDA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322" y="254000"/>
            <a:ext cx="2747878" cy="499444"/>
          </a:xfrm>
        </p:spPr>
        <p:txBody>
          <a:bodyPr/>
          <a:lstStyle/>
          <a:p>
            <a:r>
              <a:rPr lang="en-US" altLang="zh-CN" dirty="0">
                <a:latin typeface="Source Sans Pro"/>
                <a:ea typeface="Source Sans Pro"/>
              </a:rPr>
              <a:t>Indicator Module</a:t>
            </a:r>
            <a:endParaRPr lang="en-US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248FA16A-EAC2-43DC-4D60-6096EAA20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22" y="1130562"/>
            <a:ext cx="512125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Core Function &amp;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System Purpose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Functions as a screen-space Augmented Reality (AR) overlay system. It visualizes targets, including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Traffic, Waypoints, and Hazards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even when these objects are outside the camera 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Proximity Logic: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The system implements dynamic opacity rules, allowing it to fade out distant targets or make high-priority threats pulse.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Advanced Rendering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Dual Visualization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zh-CN" sz="16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</a:rPr>
              <a:t>The IndicatorElement switches between displaying a "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Symbol"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when the target is on-screen and an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"Arrow"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when the target is off-screen.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Pseudo-3D Effect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It creates a "pseudo-3D" effect by rotating the 2D UI symbol to match the target's pitch and bank.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Navigation Lights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The module procedurally generates navigation lights—Port (Red), Starboard (Green), and Tail (White)—for traffic targets based on the viewer's relative position.</a:t>
            </a:r>
          </a:p>
        </p:txBody>
      </p:sp>
    </p:spTree>
    <p:extLst>
      <p:ext uri="{BB962C8B-B14F-4D97-AF65-F5344CB8AC3E}">
        <p14:creationId xmlns:p14="http://schemas.microsoft.com/office/powerpoint/2010/main" val="168232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B89D-217B-24FA-1964-8B279058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C0AF78DB-2A25-AF6D-D4CC-35E860A6A117}"/>
              </a:ext>
            </a:extLst>
          </p:cNvPr>
          <p:cNvSpPr txBox="1"/>
          <p:nvPr/>
        </p:nvSpPr>
        <p:spPr>
          <a:xfrm>
            <a:off x="850900" y="931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59280F"/>
                </a:solidFill>
                <a:latin typeface="Trebuchet MS"/>
                <a:ea typeface="宋体"/>
                <a:cs typeface="+mn-lt"/>
              </a:rPr>
              <a:t>DEMO</a:t>
            </a:r>
            <a:endParaRPr lang="en-US" altLang="zh-CN" sz="2400" b="1" dirty="0">
              <a:solidFill>
                <a:srgbClr val="59280F"/>
              </a:solidFill>
              <a:ea typeface="宋体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2688206"/>
      </p:ext>
    </p:extLst>
  </p:cSld>
  <p:clrMapOvr>
    <a:masterClrMapping/>
  </p:clrMapOvr>
</p:sld>
</file>

<file path=ppt/theme/theme1.xml><?xml version="1.0" encoding="utf-8"?>
<a:theme xmlns:a="http://schemas.openxmlformats.org/drawingml/2006/main" name="Rowan Theme">
  <a:themeElements>
    <a:clrScheme name="Rowan Color Theme 3">
      <a:dk1>
        <a:srgbClr val="59280F"/>
      </a:dk1>
      <a:lt1>
        <a:srgbClr val="F1F2E3"/>
      </a:lt1>
      <a:dk2>
        <a:srgbClr val="59280F"/>
      </a:dk2>
      <a:lt2>
        <a:srgbClr val="F2E6C4"/>
      </a:lt2>
      <a:accent1>
        <a:srgbClr val="FFBF21"/>
      </a:accent1>
      <a:accent2>
        <a:srgbClr val="D4971F"/>
      </a:accent2>
      <a:accent3>
        <a:srgbClr val="DE7C0F"/>
      </a:accent3>
      <a:accent4>
        <a:srgbClr val="D2CCB3"/>
      </a:accent4>
      <a:accent5>
        <a:srgbClr val="88431E"/>
      </a:accent5>
      <a:accent6>
        <a:srgbClr val="AD7C59"/>
      </a:accent6>
      <a:hlink>
        <a:srgbClr val="0044C9"/>
      </a:hlink>
      <a:folHlink>
        <a:srgbClr val="00005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wan Theme" id="{919F1DFC-F4F6-4A41-A924-449B9F6BA4A5}" vid="{539CFBDE-4FAA-244A-831F-1121501E68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Rowan Theme</Template>
  <TotalTime>109</TotalTime>
  <Words>808</Words>
  <Application>Microsoft Office PowerPoint</Application>
  <PresentationFormat>宽屏</PresentationFormat>
  <Paragraphs>92</Paragraphs>
  <Slides>21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宋体</vt:lpstr>
      <vt:lpstr>Arial</vt:lpstr>
      <vt:lpstr>Calibri</vt:lpstr>
      <vt:lpstr>Source Sans Pro</vt:lpstr>
      <vt:lpstr>Source Sans Pro Semibold</vt:lpstr>
      <vt:lpstr>Trebuchet MS</vt:lpstr>
      <vt:lpstr>Rowan Theme</vt:lpstr>
      <vt:lpstr>Symbology Progress Update</vt:lpstr>
      <vt:lpstr>PowerPoint 演示文稿</vt:lpstr>
      <vt:lpstr>Visual Understanding Module</vt:lpstr>
      <vt:lpstr>Visual Understanding Module with Multi-Modal LLM</vt:lpstr>
      <vt:lpstr>Visual Understanding Module with Multi-Modal LLM</vt:lpstr>
      <vt:lpstr>Multi-Modal LLM visual capabilities</vt:lpstr>
      <vt:lpstr>Multi-Modal LLM visual capabilities</vt:lpstr>
      <vt:lpstr>Message Communication</vt:lpstr>
      <vt:lpstr>Message Communication</vt:lpstr>
      <vt:lpstr>Traffic Radar Module</vt:lpstr>
      <vt:lpstr>Traffic Radar Module</vt:lpstr>
      <vt:lpstr>Weather 2D/3D Module</vt:lpstr>
      <vt:lpstr>Weather 2D Module</vt:lpstr>
      <vt:lpstr>Weather 3D Module- under experimenting</vt:lpstr>
      <vt:lpstr>Future visualization plan for 3D weather </vt:lpstr>
      <vt:lpstr>Voice Control System</vt:lpstr>
      <vt:lpstr>Voice Control</vt:lpstr>
      <vt:lpstr>Voice Control Logic</vt:lpstr>
      <vt:lpstr>Indicator System Update</vt:lpstr>
      <vt:lpstr>Indicator Module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Yanlai Wu</dc:creator>
  <cp:lastModifiedBy>Zlad Wu</cp:lastModifiedBy>
  <cp:revision>3</cp:revision>
  <cp:lastPrinted>2017-12-08T18:01:36Z</cp:lastPrinted>
  <dcterms:created xsi:type="dcterms:W3CDTF">2017-12-08T17:48:47Z</dcterms:created>
  <dcterms:modified xsi:type="dcterms:W3CDTF">2026-02-04T03:26:05Z</dcterms:modified>
</cp:coreProperties>
</file>